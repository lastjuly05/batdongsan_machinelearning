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237922705314"/>
          <c:y val="0.0353942652329749"/>
          <c:w val="0.476135265700483"/>
          <c:h val="0.706523297491039"/>
        </c:manualLayout>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explosion val="0"/>
          <c:dPt>
            <c:idx val="0"/>
            <c:bubble3D val="0"/>
            <c:spPr>
              <a:solidFill>
                <a:srgbClr val="15324A"/>
              </a:solidFill>
              <a:effectLst/>
            </c:spPr>
          </c:dPt>
          <c:dPt>
            <c:idx val="1"/>
            <c:bubble3D val="0"/>
            <c:spPr>
              <a:solidFill>
                <a:srgbClr val="C1652F"/>
              </a:solidFill>
              <a:effectLst/>
            </c:spPr>
          </c:dPt>
          <c:dLbls>
            <c:dLbl>
              <c:idx val="0"/>
              <c:layout/>
              <c:numFmt formatCode="General"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FFFFFF"/>
                      </a:solidFill>
                      <a:latin typeface="Calibri" panose="020F0502020204030204"/>
                      <a:ea typeface="+mn-ea"/>
                      <a:cs typeface="+mn-cs"/>
                    </a:defRPr>
                  </a:pPr>
                </a:p>
              </c:txPr>
              <c:showLegendKey val="0"/>
              <c:showVal val="1"/>
              <c:showCatName val="0"/>
              <c:showSerName val="0"/>
              <c:showPercent val="0"/>
              <c:showBubbleSize val="0"/>
              <c:extLst>
                <c:ext xmlns:c15="http://schemas.microsoft.com/office/drawing/2012/chart" uri="{CE6537A1-D6FC-4f65-9D91-7224C49458BB}"/>
              </c:extLst>
            </c:dLbl>
            <c:dLbl>
              <c:idx val="1"/>
              <c:layout/>
              <c:numFmt formatCode="General"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FFFFFF"/>
                      </a:solidFill>
                      <a:latin typeface="Calibri" panose="020F0502020204030204"/>
                      <a:ea typeface="+mn-ea"/>
                      <a:cs typeface="+mn-cs"/>
                    </a:defRPr>
                  </a:pPr>
                </a:p>
              </c:txPr>
              <c:showLegendKey val="0"/>
              <c:showVal val="1"/>
              <c:showCatName val="0"/>
              <c:showSerName val="0"/>
              <c:showPercent val="0"/>
              <c:showBubbleSize val="0"/>
              <c:extLst>
                <c:ext xmlns:c15="http://schemas.microsoft.com/office/drawing/2012/chart" uri="{CE6537A1-D6FC-4f65-9D91-7224C49458BB}"/>
              </c:extLst>
            </c:dLbl>
            <c:numFmt formatCode="General"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rgbClr val="000000"/>
                    </a:solidFill>
                    <a:latin typeface="Arial" panose="020B0604020202020204"/>
                    <a:ea typeface="+mn-ea"/>
                    <a:cs typeface="+mn-cs"/>
                  </a:defRPr>
                </a:pPr>
              </a:p>
            </c:txP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Sheet1!$A$2:$A$3</c:f>
              <c:strCache>
                <c:ptCount val="2"/>
                <c:pt idx="0">
                  <c:v>Train (70%)</c:v>
                </c:pt>
                <c:pt idx="1">
                  <c:v>Test (30%)</c:v>
                </c:pt>
              </c:strCache>
            </c:strRef>
          </c:cat>
          <c:val>
            <c:numRef>
              <c:f>Sheet1!$B$2:$B$3</c:f>
              <c:numCache>
                <c:formatCode>General</c:formatCode>
                <c:ptCount val="2"/>
                <c:pt idx="0">
                  <c:v>70</c:v>
                </c:pt>
                <c:pt idx="1">
                  <c:v>30</c:v>
                </c:pt>
              </c:numCache>
            </c:numRef>
          </c:val>
        </c:ser>
        <c:dLbls>
          <c:showLegendKey val="0"/>
          <c:showVal val="0"/>
          <c:showCatName val="1"/>
          <c:showSerName val="0"/>
          <c:showPercent val="1"/>
          <c:showBubbleSize val="0"/>
          <c:showLeaderLines val="1"/>
        </c:dLbls>
        <c:firstSliceAng val="0"/>
        <c:holeSize val="55"/>
      </c:doughnutChart>
      <c:spPr>
        <a:noFill/>
        <a:ln>
          <a:noFill/>
        </a:ln>
        <a:effectLst/>
      </c:spPr>
    </c:plotArea>
    <c:plotVisOnly val="1"/>
    <c:dispBlanksAs val="span"/>
    <c:showDLblsOverMax val="0"/>
    <c:extLst>
      <c:ext uri="{0b15fc19-7d7d-44ad-8c2d-2c3a37ce22c3}">
        <chartProps xmlns="https://web.wps.cn/et/2018/main" chartId="{10ebff69-8c69-43f9-bad5-81ea4d347a66}"/>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R² (%)</c:v>
                </c:pt>
              </c:strCache>
            </c:strRef>
          </c:tx>
          <c:spPr>
            <a:solidFill>
              <a:srgbClr val="15324A"/>
            </a:solidFill>
            <a:effectLst/>
          </c:spPr>
          <c:invertIfNegative val="0"/>
          <c:dLbls>
            <c:numFmt formatCode="0.0&quot;%&quot;"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1F2A33"/>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Lasso</c:v>
                </c:pt>
                <c:pt idx="1">
                  <c:v>SVR</c:v>
                </c:pt>
                <c:pt idx="2">
                  <c:v>XGBoost</c:v>
                </c:pt>
                <c:pt idx="3">
                  <c:v>MLP</c:v>
                </c:pt>
                <c:pt idx="4">
                  <c:v>Random Forest</c:v>
                </c:pt>
              </c:strCache>
            </c:strRef>
          </c:cat>
          <c:val>
            <c:numRef>
              <c:f>Sheet1!$B$2:$B$6</c:f>
              <c:numCache>
                <c:formatCode>General</c:formatCode>
                <c:ptCount val="5"/>
                <c:pt idx="0">
                  <c:v>94.5</c:v>
                </c:pt>
                <c:pt idx="1">
                  <c:v>92.58</c:v>
                </c:pt>
                <c:pt idx="2">
                  <c:v>92.42</c:v>
                </c:pt>
                <c:pt idx="3">
                  <c:v>91.91</c:v>
                </c:pt>
                <c:pt idx="4">
                  <c:v>90.56</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1F2A33"/>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96"/>
          <c:min val="88"/>
        </c:scaling>
        <c:delete val="1"/>
        <c:axPos val="b"/>
        <c:numFmt formatCode="General" sourceLinked="0"/>
        <c:majorTickMark val="out"/>
        <c:minorTickMark val="none"/>
        <c:tickLblPos val="low"/>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solidFill>
          <a:srgbClr val="FFFFFF"/>
        </a:solidFill>
        <a:ln>
          <a:noFill/>
        </a:ln>
        <a:effectLst/>
      </c:spPr>
    </c:plotArea>
    <c:plotVisOnly val="1"/>
    <c:dispBlanksAs val="span"/>
    <c:showDLblsOverMax val="0"/>
    <c:extLst>
      <c:ext uri="{0b15fc19-7d7d-44ad-8c2d-2c3a37ce22c3}">
        <chartProps xmlns="https://web.wps.cn/et/2018/main" chartId="{fd250022-6669-4dc3-8c09-f9e3a7f224c2}"/>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chart" Target="../charts/chart2.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32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F4763"/>
          </a:solidFill>
        </p:spPr>
      </p:sp>
      <p:sp>
        <p:nvSpPr>
          <p:cNvPr id="3" name="Shape 1"/>
          <p:cNvSpPr/>
          <p:nvPr/>
        </p:nvSpPr>
        <p:spPr>
          <a:xfrm>
            <a:off x="-1463040" y="4937760"/>
            <a:ext cx="3291840" cy="3291840"/>
          </a:xfrm>
          <a:prstGeom prst="ellipse">
            <a:avLst/>
          </a:prstGeom>
          <a:solidFill>
            <a:srgbClr val="1F4763"/>
          </a:solidFill>
        </p:spPr>
      </p:sp>
      <p:sp>
        <p:nvSpPr>
          <p:cNvPr id="4" name="Text 2"/>
          <p:cNvSpPr/>
          <p:nvPr/>
        </p:nvSpPr>
        <p:spPr>
          <a:xfrm>
            <a:off x="822960" y="914400"/>
            <a:ext cx="7315200" cy="365760"/>
          </a:xfrm>
          <a:prstGeom prst="rect">
            <a:avLst/>
          </a:prstGeom>
          <a:noFill/>
        </p:spPr>
        <p:txBody>
          <a:bodyPr wrap="square" rtlCol="0" anchor="ctr"/>
          <a:lstStyle/>
          <a:p>
            <a:pPr marL="0" indent="0">
              <a:buNone/>
            </a:pPr>
            <a:r>
              <a:rPr lang="en-US" sz="1300" b="1" kern="0" spc="200" dirty="0">
                <a:solidFill>
                  <a:srgbClr val="E8A874"/>
                </a:solidFill>
                <a:latin typeface="Calibri" panose="020F0502020204030204" pitchFamily="34" charset="0"/>
                <a:ea typeface="Calibri" panose="020F0502020204030204" pitchFamily="34" charset="-122"/>
                <a:cs typeface="Calibri" panose="020F0502020204030204" pitchFamily="34" charset="-120"/>
              </a:rPr>
              <a:t>ĐỒ ÁN HỌC MÁY  ·  MACHINE LEARNING</a:t>
            </a:r>
            <a:endParaRPr lang="en-US" sz="1300" dirty="0"/>
          </a:p>
        </p:txBody>
      </p:sp>
      <p:sp>
        <p:nvSpPr>
          <p:cNvPr id="5" name="Shape 3"/>
          <p:cNvSpPr/>
          <p:nvPr/>
        </p:nvSpPr>
        <p:spPr>
          <a:xfrm>
            <a:off x="9692640" y="822960"/>
            <a:ext cx="1737360" cy="1737360"/>
          </a:xfrm>
          <a:prstGeom prst="ellipse">
            <a:avLst/>
          </a:prstGeom>
          <a:solidFill>
            <a:srgbClr val="C1652F"/>
          </a:solidFill>
        </p:spPr>
      </p:sp>
      <p:pic>
        <p:nvPicPr>
          <p:cNvPr id="6" name="Image 0" descr="icons/home.png"/>
          <p:cNvPicPr>
            <a:picLocks noChangeAspect="1"/>
          </p:cNvPicPr>
          <p:nvPr/>
        </p:nvPicPr>
        <p:blipFill>
          <a:blip r:embed="rId1"/>
          <a:stretch>
            <a:fillRect/>
          </a:stretch>
        </p:blipFill>
        <p:spPr>
          <a:xfrm>
            <a:off x="10144354" y="1274674"/>
            <a:ext cx="833933" cy="833933"/>
          </a:xfrm>
          <a:prstGeom prst="rect">
            <a:avLst/>
          </a:prstGeom>
        </p:spPr>
      </p:pic>
      <p:sp>
        <p:nvSpPr>
          <p:cNvPr id="7" name="Text 4"/>
          <p:cNvSpPr/>
          <p:nvPr/>
        </p:nvSpPr>
        <p:spPr>
          <a:xfrm>
            <a:off x="822960" y="1463040"/>
            <a:ext cx="8595360" cy="1737360"/>
          </a:xfrm>
          <a:prstGeom prst="rect">
            <a:avLst/>
          </a:prstGeom>
          <a:noFill/>
        </p:spPr>
        <p:txBody>
          <a:bodyPr wrap="square" rtlCol="0" anchor="ctr"/>
          <a:lstStyle/>
          <a:p>
            <a:pPr marL="0" indent="0">
              <a:lnSpc>
                <a:spcPts val="4600"/>
              </a:lnSpc>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Dự đoán giá bất động sản</a:t>
            </a:r>
            <a:endParaRPr lang="en-US" sz="4200" dirty="0"/>
          </a:p>
          <a:p>
            <a:pPr marL="0" indent="0">
              <a:lnSpc>
                <a:spcPts val="4600"/>
              </a:lnSpc>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bằng Machine Learning</a:t>
            </a:r>
            <a:endParaRPr lang="en-US" sz="4200" dirty="0"/>
          </a:p>
        </p:txBody>
      </p:sp>
      <p:sp>
        <p:nvSpPr>
          <p:cNvPr id="8" name="Text 5"/>
          <p:cNvSpPr/>
          <p:nvPr/>
        </p:nvSpPr>
        <p:spPr>
          <a:xfrm>
            <a:off x="822960" y="3246120"/>
            <a:ext cx="8229600" cy="548640"/>
          </a:xfrm>
          <a:prstGeom prst="rect">
            <a:avLst/>
          </a:prstGeom>
          <a:noFill/>
        </p:spPr>
        <p:txBody>
          <a:bodyPr wrap="square" rtlCol="0" anchor="ctr"/>
          <a:lstStyle/>
          <a:p>
            <a:pPr marL="0" indent="0">
              <a:buNone/>
            </a:pPr>
            <a:r>
              <a:rPr lang="en-US" sz="1500" i="1" dirty="0">
                <a:solidFill>
                  <a:srgbClr val="C9D6DD"/>
                </a:solidFill>
                <a:latin typeface="Calibri" panose="020F0502020204030204" pitchFamily="34" charset="0"/>
                <a:ea typeface="Calibri" panose="020F0502020204030204" pitchFamily="34" charset="-122"/>
                <a:cs typeface="Calibri" panose="020F0502020204030204" pitchFamily="34" charset="-120"/>
              </a:rPr>
              <a:t>Ứng dụng Feature Engineering &amp; 5 mô hình hồi quy trên bộ dữ liệu Ames Housing (Kaggle)</a:t>
            </a:r>
            <a:endParaRPr lang="en-US" sz="1500" dirty="0"/>
          </a:p>
        </p:txBody>
      </p:sp>
      <p:sp>
        <p:nvSpPr>
          <p:cNvPr id="9" name="Shape 6"/>
          <p:cNvSpPr/>
          <p:nvPr/>
        </p:nvSpPr>
        <p:spPr>
          <a:xfrm>
            <a:off x="822960" y="3977640"/>
            <a:ext cx="4206240" cy="18288"/>
          </a:xfrm>
          <a:prstGeom prst="rect">
            <a:avLst/>
          </a:prstGeom>
          <a:solidFill>
            <a:srgbClr val="1F4763"/>
          </a:solidFill>
        </p:spPr>
      </p:sp>
      <p:sp>
        <p:nvSpPr>
          <p:cNvPr id="10" name="Text 7"/>
          <p:cNvSpPr/>
          <p:nvPr/>
        </p:nvSpPr>
        <p:spPr>
          <a:xfrm>
            <a:off x="822960" y="4206240"/>
            <a:ext cx="3657600" cy="320040"/>
          </a:xfrm>
          <a:prstGeom prst="rect">
            <a:avLst/>
          </a:prstGeom>
          <a:noFill/>
        </p:spPr>
        <p:txBody>
          <a:bodyPr wrap="square" rtlCol="0" anchor="ctr"/>
          <a:lstStyle/>
          <a:p>
            <a:pPr marL="0" indent="0">
              <a:buNone/>
            </a:pPr>
            <a:r>
              <a:rPr lang="en-US" sz="1300" b="1" dirty="0">
                <a:solidFill>
                  <a:srgbClr val="E8A874"/>
                </a:solidFill>
                <a:latin typeface="Calibri" panose="020F0502020204030204" pitchFamily="34" charset="0"/>
                <a:ea typeface="Calibri" panose="020F0502020204030204" pitchFamily="34" charset="-122"/>
                <a:cs typeface="Calibri" panose="020F0502020204030204" pitchFamily="34" charset="-120"/>
              </a:rPr>
              <a:t>Thành viên thực hiện</a:t>
            </a:r>
            <a:endParaRPr lang="en-US" sz="1300" dirty="0"/>
          </a:p>
        </p:txBody>
      </p:sp>
      <p:sp>
        <p:nvSpPr>
          <p:cNvPr id="11" name="Text 8"/>
          <p:cNvSpPr/>
          <p:nvPr/>
        </p:nvSpPr>
        <p:spPr>
          <a:xfrm>
            <a:off x="822960" y="4572000"/>
            <a:ext cx="4572000" cy="1371600"/>
          </a:xfrm>
          <a:prstGeom prst="rect">
            <a:avLst/>
          </a:prstGeom>
          <a:noFill/>
        </p:spPr>
        <p:txBody>
          <a:bodyPr wrap="square" rtlCol="0" anchor="ctr"/>
          <a:lstStyle/>
          <a:p>
            <a:pPr marL="0" indent="0">
              <a:lnSpc>
                <a:spcPct val="115000"/>
              </a:lnSpc>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Trần Đức Trí</a:t>
            </a:r>
            <a:endParaRPr lang="en-US" sz="1600" dirty="0"/>
          </a:p>
          <a:p>
            <a:pPr marL="0" indent="0">
              <a:lnSpc>
                <a:spcPct val="115000"/>
              </a:lnSpc>
              <a:buNone/>
            </a:pPr>
            <a:r>
              <a:rPr lang="en-US" sz="1200" dirty="0">
                <a:solidFill>
                  <a:srgbClr val="AFC2CC"/>
                </a:solidFill>
                <a:latin typeface="Calibri" panose="020F0502020204030204" pitchFamily="34" charset="0"/>
                <a:ea typeface="Calibri" panose="020F0502020204030204" pitchFamily="34" charset="-122"/>
                <a:cs typeface="Calibri" panose="020F0502020204030204" pitchFamily="34" charset="-120"/>
              </a:rPr>
              <a:t>23130347@st.hcmuaf.edu.vn</a:t>
            </a:r>
            <a:endParaRPr lang="en-US" sz="1600" dirty="0"/>
          </a:p>
          <a:p>
            <a:pPr marL="0" indent="0">
              <a:lnSpc>
                <a:spcPct val="115000"/>
              </a:lnSpc>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Lương Hoài Sang</a:t>
            </a:r>
            <a:endParaRPr lang="en-US" sz="1600" dirty="0"/>
          </a:p>
          <a:p>
            <a:pPr marL="0" indent="0">
              <a:lnSpc>
                <a:spcPct val="115000"/>
              </a:lnSpc>
              <a:buNone/>
            </a:pPr>
            <a:r>
              <a:rPr lang="en-US" sz="1200" dirty="0">
                <a:solidFill>
                  <a:srgbClr val="AFC2CC"/>
                </a:solidFill>
                <a:latin typeface="Calibri" panose="020F0502020204030204" pitchFamily="34" charset="0"/>
                <a:ea typeface="Calibri" panose="020F0502020204030204" pitchFamily="34" charset="-122"/>
                <a:cs typeface="Calibri" panose="020F0502020204030204" pitchFamily="34" charset="-120"/>
              </a:rPr>
              <a:t>23130270@st.hcmuaf.edu.vn</a:t>
            </a:r>
            <a:endParaRPr lang="en-US" sz="1600" dirty="0"/>
          </a:p>
        </p:txBody>
      </p:sp>
      <p:sp>
        <p:nvSpPr>
          <p:cNvPr id="12" name="Text 9"/>
          <p:cNvSpPr/>
          <p:nvPr/>
        </p:nvSpPr>
        <p:spPr>
          <a:xfrm>
            <a:off x="822960" y="6263640"/>
            <a:ext cx="7315200" cy="320040"/>
          </a:xfrm>
          <a:prstGeom prst="rect">
            <a:avLst/>
          </a:prstGeom>
          <a:noFill/>
        </p:spPr>
        <p:txBody>
          <a:bodyPr wrap="square" rtlCol="0" anchor="ctr"/>
          <a:lstStyle/>
          <a:p>
            <a:pPr marL="0" indent="0">
              <a:buNone/>
            </a:pPr>
            <a:r>
              <a:rPr lang="en-US" sz="1200" dirty="0">
                <a:solidFill>
                  <a:srgbClr val="8FA6B2"/>
                </a:solidFill>
                <a:latin typeface="Calibri" panose="020F0502020204030204" pitchFamily="34" charset="0"/>
                <a:ea typeface="Calibri" panose="020F0502020204030204" pitchFamily="34" charset="-122"/>
                <a:cs typeface="Calibri" panose="020F0502020204030204" pitchFamily="34" charset="-120"/>
              </a:rPr>
              <a:t>Trường Đại học Nông Lâm TP. Hồ Chí Minh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p:spPr>
        <p:txBody>
          <a:bodyPr wrap="square" rtlCol="0" anchor="ctr"/>
          <a:lstStyle/>
          <a:p>
            <a:pPr marL="0" indent="0">
              <a:buNone/>
            </a:pPr>
            <a:r>
              <a:rPr lang="en-US" sz="1200" b="1" kern="0" spc="200" dirty="0">
                <a:solidFill>
                  <a:srgbClr val="C1652F"/>
                </a:solidFill>
                <a:latin typeface="Calibri" panose="020F0502020204030204" pitchFamily="34" charset="0"/>
                <a:ea typeface="Calibri" panose="020F0502020204030204" pitchFamily="34" charset="-122"/>
                <a:cs typeface="Calibri" panose="020F0502020204030204" pitchFamily="34" charset="-120"/>
              </a:rPr>
              <a:t>GIỚI THIỆU</a:t>
            </a:r>
            <a:endParaRPr lang="en-US" sz="1200" dirty="0"/>
          </a:p>
        </p:txBody>
      </p:sp>
      <p:sp>
        <p:nvSpPr>
          <p:cNvPr id="3" name="Text 1"/>
          <p:cNvSpPr/>
          <p:nvPr/>
        </p:nvSpPr>
        <p:spPr>
          <a:xfrm>
            <a:off x="548640" y="685800"/>
            <a:ext cx="10972800" cy="731520"/>
          </a:xfrm>
          <a:prstGeom prst="rect">
            <a:avLst/>
          </a:prstGeom>
          <a:noFill/>
        </p:spPr>
        <p:txBody>
          <a:bodyPr wrap="square" rtlCol="0" anchor="ctr"/>
          <a:lstStyle/>
          <a:p>
            <a:pPr marL="0" indent="0">
              <a:buNone/>
            </a:pPr>
            <a:r>
              <a:rPr lang="en-US" sz="3200" b="1" dirty="0">
                <a:solidFill>
                  <a:srgbClr val="15324A"/>
                </a:solidFill>
                <a:latin typeface="Cambria" panose="02040503050406030204" pitchFamily="34" charset="0"/>
                <a:ea typeface="Cambria" panose="02040503050406030204" pitchFamily="34" charset="-122"/>
                <a:cs typeface="Cambria" panose="02040503050406030204" pitchFamily="34" charset="-120"/>
              </a:rPr>
              <a:t>Bối cảnh &amp; Mục tiêu</a:t>
            </a:r>
            <a:endParaRPr lang="en-US" sz="3200" dirty="0"/>
          </a:p>
        </p:txBody>
      </p:sp>
      <p:sp>
        <p:nvSpPr>
          <p:cNvPr id="4" name="Shape 2"/>
          <p:cNvSpPr/>
          <p:nvPr/>
        </p:nvSpPr>
        <p:spPr>
          <a:xfrm>
            <a:off x="548640" y="1737360"/>
            <a:ext cx="5349240" cy="4297680"/>
          </a:xfrm>
          <a:prstGeom prst="roundRect">
            <a:avLst>
              <a:gd name="adj" fmla="val 1702"/>
            </a:avLst>
          </a:prstGeom>
          <a:solidFill>
            <a:srgbClr val="EEF1F3"/>
          </a:solidFill>
        </p:spPr>
      </p:sp>
      <p:sp>
        <p:nvSpPr>
          <p:cNvPr id="5" name="Shape 3"/>
          <p:cNvSpPr/>
          <p:nvPr/>
        </p:nvSpPr>
        <p:spPr>
          <a:xfrm>
            <a:off x="868680" y="2103120"/>
            <a:ext cx="685800" cy="685800"/>
          </a:xfrm>
          <a:prstGeom prst="ellipse">
            <a:avLst/>
          </a:prstGeom>
          <a:solidFill>
            <a:srgbClr val="15324A"/>
          </a:solidFill>
        </p:spPr>
      </p:sp>
      <p:pic>
        <p:nvPicPr>
          <p:cNvPr id="6" name="Image 0" descr="icons/chart.png"/>
          <p:cNvPicPr>
            <a:picLocks noChangeAspect="1"/>
          </p:cNvPicPr>
          <p:nvPr/>
        </p:nvPicPr>
        <p:blipFill>
          <a:blip r:embed="rId1"/>
          <a:stretch>
            <a:fillRect/>
          </a:stretch>
        </p:blipFill>
        <p:spPr>
          <a:xfrm>
            <a:off x="1046988" y="2281428"/>
            <a:ext cx="329184" cy="329184"/>
          </a:xfrm>
          <a:prstGeom prst="rect">
            <a:avLst/>
          </a:prstGeom>
        </p:spPr>
      </p:pic>
      <p:sp>
        <p:nvSpPr>
          <p:cNvPr id="7" name="Text 4"/>
          <p:cNvSpPr/>
          <p:nvPr/>
        </p:nvSpPr>
        <p:spPr>
          <a:xfrm>
            <a:off x="1737360" y="2194560"/>
            <a:ext cx="4114800" cy="457200"/>
          </a:xfrm>
          <a:prstGeom prst="rect">
            <a:avLst/>
          </a:prstGeom>
          <a:noFill/>
        </p:spPr>
        <p:txBody>
          <a:bodyPr wrap="square" rtlCol="0" anchor="ctr"/>
          <a:lstStyle/>
          <a:p>
            <a:pPr marL="0" indent="0">
              <a:buNone/>
            </a:pPr>
            <a:r>
              <a:rPr lang="en-US" sz="2000" b="1" dirty="0">
                <a:solidFill>
                  <a:srgbClr val="15324A"/>
                </a:solidFill>
                <a:latin typeface="Cambria" panose="02040503050406030204" pitchFamily="34" charset="0"/>
                <a:ea typeface="Cambria" panose="02040503050406030204" pitchFamily="34" charset="-122"/>
                <a:cs typeface="Cambria" panose="02040503050406030204" pitchFamily="34" charset="-120"/>
              </a:rPr>
              <a:t>Bối cảnh vấn đề</a:t>
            </a:r>
            <a:endParaRPr lang="en-US" sz="2000" dirty="0"/>
          </a:p>
        </p:txBody>
      </p:sp>
      <p:sp>
        <p:nvSpPr>
          <p:cNvPr id="8" name="Text 5"/>
          <p:cNvSpPr/>
          <p:nvPr/>
        </p:nvSpPr>
        <p:spPr>
          <a:xfrm>
            <a:off x="868680" y="2880360"/>
            <a:ext cx="4709160" cy="2926080"/>
          </a:xfrm>
          <a:prstGeom prst="rect">
            <a:avLst/>
          </a:prstGeom>
          <a:noFill/>
        </p:spPr>
        <p:txBody>
          <a:bodyPr wrap="square" rtlCol="0" anchor="ctr"/>
          <a:lstStyle/>
          <a:p>
            <a:pPr marL="342900" indent="-342900">
              <a:spcAft>
                <a:spcPts val="1000"/>
              </a:spcAft>
              <a:buSzPct val="100000"/>
              <a:buChar char="▪"/>
            </a:pPr>
            <a:r>
              <a:rPr lang="en-US" sz="1350" dirty="0">
                <a:solidFill>
                  <a:srgbClr val="1F2A33"/>
                </a:solidFill>
                <a:latin typeface="Calibri" panose="020F0502020204030204" pitchFamily="34" charset="0"/>
                <a:ea typeface="Calibri" panose="020F0502020204030204" pitchFamily="34" charset="-122"/>
                <a:cs typeface="Calibri" panose="020F0502020204030204" pitchFamily="34" charset="-120"/>
              </a:rPr>
              <a:t>Thị trường bất động sản ngày càng biến động, giá trị nhà không còn là con số cố định.</a:t>
            </a:r>
            <a:endParaRPr lang="en-US" sz="1350" dirty="0"/>
          </a:p>
          <a:p>
            <a:pPr marL="342900" indent="-342900">
              <a:spcAft>
                <a:spcPts val="1000"/>
              </a:spcAft>
              <a:buSzPct val="100000"/>
              <a:buChar char="▪"/>
            </a:pPr>
            <a:r>
              <a:rPr lang="en-US" sz="1350" dirty="0">
                <a:solidFill>
                  <a:srgbClr val="1F2A33"/>
                </a:solidFill>
                <a:latin typeface="Calibri" panose="020F0502020204030204" pitchFamily="34" charset="0"/>
                <a:ea typeface="Calibri" panose="020F0502020204030204" pitchFamily="34" charset="-122"/>
                <a:cs typeface="Calibri" panose="020F0502020204030204" pitchFamily="34" charset="-120"/>
              </a:rPr>
              <a:t>Giá chịu chi phối bởi nhiều yếu tố: diện tích, số phòng, vị trí, chất lượng xây dựng, tiện ích...</a:t>
            </a:r>
            <a:endParaRPr lang="en-US" sz="1350" dirty="0"/>
          </a:p>
          <a:p>
            <a:pPr marL="342900" indent="-342900">
              <a:spcAft>
                <a:spcPts val="1000"/>
              </a:spcAft>
              <a:buSzPct val="100000"/>
              <a:buChar char="▪"/>
            </a:pPr>
            <a:r>
              <a:rPr lang="en-US" sz="1350" dirty="0">
                <a:solidFill>
                  <a:srgbClr val="1F2A33"/>
                </a:solidFill>
                <a:latin typeface="Calibri" panose="020F0502020204030204" pitchFamily="34" charset="0"/>
                <a:ea typeface="Calibri" panose="020F0502020204030204" pitchFamily="34" charset="-122"/>
                <a:cs typeface="Calibri" panose="020F0502020204030204" pitchFamily="34" charset="-120"/>
              </a:rPr>
              <a:t>Phương pháp định giá truyền thống (kinh nghiệm, thống kê mô tả) bộc lộ hạn chế về độ chính xác.</a:t>
            </a:r>
            <a:endParaRPr lang="en-US" sz="1350" dirty="0"/>
          </a:p>
          <a:p>
            <a:pPr marL="342900" indent="-342900">
              <a:spcAft>
                <a:spcPts val="1000"/>
              </a:spcAft>
              <a:buSzPct val="100000"/>
              <a:buChar char="▪"/>
            </a:pPr>
            <a:r>
              <a:rPr lang="en-US" sz="1350" dirty="0">
                <a:solidFill>
                  <a:srgbClr val="1F2A33"/>
                </a:solidFill>
                <a:latin typeface="Calibri" panose="020F0502020204030204" pitchFamily="34" charset="0"/>
                <a:ea typeface="Calibri" panose="020F0502020204030204" pitchFamily="34" charset="-122"/>
                <a:cs typeface="Calibri" panose="020F0502020204030204" pitchFamily="34" charset="-120"/>
              </a:rPr>
              <a:t>Cần công cụ khách quan, minh bạch giúp người mua/bán tránh rủi ro “mua hớ, bán hớ”.</a:t>
            </a:r>
            <a:endParaRPr lang="en-US" sz="1350" dirty="0"/>
          </a:p>
        </p:txBody>
      </p:sp>
      <p:sp>
        <p:nvSpPr>
          <p:cNvPr id="9" name="Shape 6"/>
          <p:cNvSpPr/>
          <p:nvPr/>
        </p:nvSpPr>
        <p:spPr>
          <a:xfrm>
            <a:off x="6263640" y="1737360"/>
            <a:ext cx="5349240" cy="4297680"/>
          </a:xfrm>
          <a:prstGeom prst="roundRect">
            <a:avLst>
              <a:gd name="adj" fmla="val 1702"/>
            </a:avLst>
          </a:prstGeom>
          <a:solidFill>
            <a:srgbClr val="15324A"/>
          </a:solidFill>
        </p:spPr>
      </p:sp>
      <p:sp>
        <p:nvSpPr>
          <p:cNvPr id="10" name="Shape 7"/>
          <p:cNvSpPr/>
          <p:nvPr/>
        </p:nvSpPr>
        <p:spPr>
          <a:xfrm>
            <a:off x="6583680" y="2103120"/>
            <a:ext cx="685800" cy="685800"/>
          </a:xfrm>
          <a:prstGeom prst="ellipse">
            <a:avLst/>
          </a:prstGeom>
          <a:solidFill>
            <a:srgbClr val="C1652F"/>
          </a:solidFill>
        </p:spPr>
      </p:sp>
      <p:pic>
        <p:nvPicPr>
          <p:cNvPr id="11" name="Image 1" descr="icons/target.png"/>
          <p:cNvPicPr>
            <a:picLocks noChangeAspect="1"/>
          </p:cNvPicPr>
          <p:nvPr/>
        </p:nvPicPr>
        <p:blipFill>
          <a:blip r:embed="rId2"/>
          <a:stretch>
            <a:fillRect/>
          </a:stretch>
        </p:blipFill>
        <p:spPr>
          <a:xfrm>
            <a:off x="6761988" y="2281428"/>
            <a:ext cx="329184" cy="329184"/>
          </a:xfrm>
          <a:prstGeom prst="rect">
            <a:avLst/>
          </a:prstGeom>
        </p:spPr>
      </p:pic>
      <p:sp>
        <p:nvSpPr>
          <p:cNvPr id="12" name="Text 8"/>
          <p:cNvSpPr/>
          <p:nvPr/>
        </p:nvSpPr>
        <p:spPr>
          <a:xfrm>
            <a:off x="7452360" y="2194560"/>
            <a:ext cx="4114800" cy="457200"/>
          </a:xfrm>
          <a:prstGeom prst="rect">
            <a:avLst/>
          </a:prstGeom>
          <a:noFill/>
        </p:spPr>
        <p:txBody>
          <a:bodyPr wrap="square" rtlCol="0" anchor="ctr"/>
          <a:lstStyle/>
          <a:p>
            <a:pPr marL="0" indent="0">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Mục tiêu nghiên cứu</a:t>
            </a:r>
            <a:endParaRPr lang="en-US" sz="2000" dirty="0"/>
          </a:p>
        </p:txBody>
      </p:sp>
      <p:sp>
        <p:nvSpPr>
          <p:cNvPr id="13" name="Text 9"/>
          <p:cNvSpPr/>
          <p:nvPr/>
        </p:nvSpPr>
        <p:spPr>
          <a:xfrm>
            <a:off x="6629400" y="2926080"/>
            <a:ext cx="4617720" cy="1463040"/>
          </a:xfrm>
          <a:prstGeom prst="rect">
            <a:avLst/>
          </a:prstGeom>
          <a:noFill/>
        </p:spPr>
        <p:txBody>
          <a:bodyPr wrap="square" rtlCol="0" anchor="ctr"/>
          <a:lstStyle/>
          <a:p>
            <a:pPr marL="0" indent="0">
              <a:lnSpc>
                <a:spcPct val="125000"/>
              </a:lnSpc>
              <a:buNone/>
            </a:pPr>
            <a:r>
              <a:rPr lang="en-US" sz="1450" dirty="0">
                <a:solidFill>
                  <a:srgbClr val="DCE6EB"/>
                </a:solidFill>
                <a:latin typeface="Calibri" panose="020F0502020204030204" pitchFamily="34" charset="0"/>
                <a:ea typeface="Calibri" panose="020F0502020204030204" pitchFamily="34" charset="-122"/>
                <a:cs typeface="Calibri" panose="020F0502020204030204" pitchFamily="34" charset="-120"/>
              </a:rPr>
              <a:t>Xây dựng và so sánh các mô hình hồi quy (Regression) có khả năng dự đoán chính xác giá bán (SalePrice) của bất động sản dựa trên các thuộc tính vật lý và định tính của căn nhà.</a:t>
            </a:r>
            <a:endParaRPr lang="en-US" sz="1450" dirty="0"/>
          </a:p>
        </p:txBody>
      </p:sp>
      <p:sp>
        <p:nvSpPr>
          <p:cNvPr id="14" name="Shape 10"/>
          <p:cNvSpPr/>
          <p:nvPr/>
        </p:nvSpPr>
        <p:spPr>
          <a:xfrm>
            <a:off x="6629400" y="4480560"/>
            <a:ext cx="4617720" cy="18288"/>
          </a:xfrm>
          <a:prstGeom prst="rect">
            <a:avLst/>
          </a:prstGeom>
          <a:solidFill>
            <a:srgbClr val="1F4763"/>
          </a:solidFill>
        </p:spPr>
      </p:sp>
      <p:sp>
        <p:nvSpPr>
          <p:cNvPr id="15" name="Text 11"/>
          <p:cNvSpPr/>
          <p:nvPr/>
        </p:nvSpPr>
        <p:spPr>
          <a:xfrm>
            <a:off x="6629400" y="4663440"/>
            <a:ext cx="4617720" cy="1097280"/>
          </a:xfrm>
          <a:prstGeom prst="rect">
            <a:avLst/>
          </a:prstGeom>
          <a:noFill/>
        </p:spPr>
        <p:txBody>
          <a:bodyPr wrap="square" rtlCol="0" anchor="ctr"/>
          <a:lstStyle/>
          <a:p>
            <a:pPr marL="0" indent="0">
              <a:lnSpc>
                <a:spcPct val="120000"/>
              </a:lnSpc>
              <a:buNone/>
            </a:pPr>
            <a:r>
              <a:rPr lang="en-US" sz="1250" i="1" dirty="0">
                <a:solidFill>
                  <a:srgbClr val="E8A874"/>
                </a:solidFill>
                <a:latin typeface="Calibri" panose="020F0502020204030204" pitchFamily="34" charset="0"/>
                <a:ea typeface="Calibri" panose="020F0502020204030204" pitchFamily="34" charset="-122"/>
                <a:cs typeface="Calibri" panose="020F0502020204030204" pitchFamily="34" charset="-120"/>
              </a:rPr>
              <a:t>Ứng dụng: hỗ trợ người mua/bán, môi giới và nhà đầu tư ra quyết định nhanh, minh bạch hóa thị trường.</a:t>
            </a:r>
            <a:endParaRPr lang="en-US" sz="1250" dirty="0"/>
          </a:p>
        </p:txBody>
      </p:sp>
      <p:sp>
        <p:nvSpPr>
          <p:cNvPr id="16" name="Text 12"/>
          <p:cNvSpPr/>
          <p:nvPr/>
        </p:nvSpPr>
        <p:spPr>
          <a:xfrm>
            <a:off x="11521440" y="6473952"/>
            <a:ext cx="457200" cy="274320"/>
          </a:xfrm>
          <a:prstGeom prst="rect">
            <a:avLst/>
          </a:prstGeom>
          <a:noFill/>
        </p:spPr>
        <p:txBody>
          <a:bodyPr wrap="square" rtlCol="0" anchor="ctr"/>
          <a:lstStyle/>
          <a:p>
            <a:pPr marL="0" indent="0" algn="r">
              <a:buNone/>
            </a:pPr>
            <a:r>
              <a:rPr lang="en-US" sz="1000" dirty="0">
                <a:solidFill>
                  <a:srgbClr val="5B6B75"/>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p:spPr>
        <p:txBody>
          <a:bodyPr wrap="square" rtlCol="0" anchor="ctr"/>
          <a:lstStyle/>
          <a:p>
            <a:pPr marL="0" indent="0">
              <a:buNone/>
            </a:pPr>
            <a:r>
              <a:rPr lang="en-US" sz="1200" b="1" kern="0" spc="200" dirty="0">
                <a:solidFill>
                  <a:srgbClr val="C1652F"/>
                </a:solidFill>
                <a:latin typeface="Calibri" panose="020F0502020204030204" pitchFamily="34" charset="0"/>
                <a:ea typeface="Calibri" panose="020F0502020204030204" pitchFamily="34" charset="-122"/>
                <a:cs typeface="Calibri" panose="020F0502020204030204" pitchFamily="34" charset="-120"/>
              </a:rPr>
              <a:t>NỀN TẢNG NGHIÊN CỨU</a:t>
            </a:r>
            <a:endParaRPr lang="en-US" sz="1200" dirty="0"/>
          </a:p>
        </p:txBody>
      </p:sp>
      <p:sp>
        <p:nvSpPr>
          <p:cNvPr id="3" name="Text 1"/>
          <p:cNvSpPr/>
          <p:nvPr/>
        </p:nvSpPr>
        <p:spPr>
          <a:xfrm>
            <a:off x="548640" y="685800"/>
            <a:ext cx="10972800" cy="731520"/>
          </a:xfrm>
          <a:prstGeom prst="rect">
            <a:avLst/>
          </a:prstGeom>
          <a:noFill/>
        </p:spPr>
        <p:txBody>
          <a:bodyPr wrap="square" rtlCol="0" anchor="ctr"/>
          <a:lstStyle/>
          <a:p>
            <a:pPr marL="0" indent="0">
              <a:buNone/>
            </a:pPr>
            <a:r>
              <a:rPr lang="en-US" sz="3200" b="1" dirty="0">
                <a:solidFill>
                  <a:srgbClr val="15324A"/>
                </a:solidFill>
                <a:latin typeface="Cambria" panose="02040503050406030204" pitchFamily="34" charset="0"/>
                <a:ea typeface="Cambria" panose="02040503050406030204" pitchFamily="34" charset="-122"/>
                <a:cs typeface="Cambria" panose="02040503050406030204" pitchFamily="34" charset="-120"/>
              </a:rPr>
              <a:t>Công trình liên quan &amp; Phát biểu bài toán</a:t>
            </a:r>
            <a:endParaRPr lang="en-US" sz="3200" dirty="0"/>
          </a:p>
        </p:txBody>
      </p:sp>
      <p:sp>
        <p:nvSpPr>
          <p:cNvPr id="4" name="Text 2"/>
          <p:cNvSpPr/>
          <p:nvPr/>
        </p:nvSpPr>
        <p:spPr>
          <a:xfrm>
            <a:off x="548640" y="1691640"/>
            <a:ext cx="5943600" cy="320040"/>
          </a:xfrm>
          <a:prstGeom prst="rect">
            <a:avLst/>
          </a:prstGeom>
          <a:noFill/>
        </p:spPr>
        <p:txBody>
          <a:bodyPr wrap="square" rtlCol="0" anchor="ctr"/>
          <a:lstStyle/>
          <a:p>
            <a:pPr marL="0" indent="0">
              <a:buNone/>
            </a:pPr>
            <a:r>
              <a:rPr lang="en-US" sz="1300" b="1" dirty="0">
                <a:solidFill>
                  <a:srgbClr val="C1652F"/>
                </a:solidFill>
                <a:latin typeface="Calibri" panose="020F0502020204030204" pitchFamily="34" charset="0"/>
                <a:ea typeface="Calibri" panose="020F0502020204030204" pitchFamily="34" charset="-122"/>
                <a:cs typeface="Calibri" panose="020F0502020204030204" pitchFamily="34" charset="-120"/>
              </a:rPr>
              <a:t>CÁC CÔNG TRÌNH LIÊN QUAN</a:t>
            </a:r>
            <a:endParaRPr lang="en-US" sz="1300" dirty="0"/>
          </a:p>
        </p:txBody>
      </p:sp>
      <p:sp>
        <p:nvSpPr>
          <p:cNvPr id="5" name="Shape 3"/>
          <p:cNvSpPr/>
          <p:nvPr/>
        </p:nvSpPr>
        <p:spPr>
          <a:xfrm>
            <a:off x="548640" y="2112264"/>
            <a:ext cx="91440" cy="91440"/>
          </a:xfrm>
          <a:prstGeom prst="ellipse">
            <a:avLst/>
          </a:prstGeom>
          <a:solidFill>
            <a:srgbClr val="C1652F"/>
          </a:solidFill>
        </p:spPr>
      </p:sp>
      <p:sp>
        <p:nvSpPr>
          <p:cNvPr id="6" name="Text 4"/>
          <p:cNvSpPr/>
          <p:nvPr/>
        </p:nvSpPr>
        <p:spPr>
          <a:xfrm>
            <a:off x="777240" y="1984248"/>
            <a:ext cx="5669280" cy="777240"/>
          </a:xfrm>
          <a:prstGeom prst="rect">
            <a:avLst/>
          </a:prstGeom>
          <a:noFill/>
        </p:spPr>
        <p:txBody>
          <a:bodyPr wrap="square" rtlCol="0" anchor="ctr"/>
          <a:lstStyle/>
          <a:p>
            <a:pPr marL="0" indent="0">
              <a:lnSpc>
                <a:spcPct val="115000"/>
              </a:lnSpc>
              <a:buNone/>
            </a:pPr>
            <a:r>
              <a:rPr lang="en-US" sz="1200" b="1" dirty="0">
                <a:solidFill>
                  <a:srgbClr val="15324A"/>
                </a:solidFill>
                <a:latin typeface="Calibri" panose="020F0502020204030204" pitchFamily="34" charset="0"/>
                <a:ea typeface="Calibri" panose="020F0502020204030204" pitchFamily="34" charset="-122"/>
                <a:cs typeface="Calibri" panose="020F0502020204030204" pitchFamily="34" charset="-120"/>
              </a:rPr>
              <a:t>De Cock D. (2011)  </a:t>
            </a:r>
            <a:r>
              <a:rPr lang="en-US" sz="1200" dirty="0">
                <a:solidFill>
                  <a:srgbClr val="5B6B75"/>
                </a:solidFill>
                <a:latin typeface="Calibri" panose="020F0502020204030204" pitchFamily="34" charset="0"/>
                <a:ea typeface="Calibri" panose="020F0502020204030204" pitchFamily="34" charset="-122"/>
                <a:cs typeface="Calibri" panose="020F0502020204030204" pitchFamily="34" charset="-120"/>
              </a:rPr>
              <a:t>Xây dựng bộ dữ liệu Ames Housing — nền tảng dữ liệu project sử dụng.</a:t>
            </a:r>
            <a:endParaRPr lang="en-US" sz="1200" dirty="0"/>
          </a:p>
        </p:txBody>
      </p:sp>
      <p:sp>
        <p:nvSpPr>
          <p:cNvPr id="7" name="Shape 5"/>
          <p:cNvSpPr/>
          <p:nvPr/>
        </p:nvSpPr>
        <p:spPr>
          <a:xfrm>
            <a:off x="548640" y="3072384"/>
            <a:ext cx="91440" cy="91440"/>
          </a:xfrm>
          <a:prstGeom prst="ellipse">
            <a:avLst/>
          </a:prstGeom>
          <a:solidFill>
            <a:srgbClr val="C1652F"/>
          </a:solidFill>
        </p:spPr>
      </p:sp>
      <p:sp>
        <p:nvSpPr>
          <p:cNvPr id="8" name="Text 6"/>
          <p:cNvSpPr/>
          <p:nvPr/>
        </p:nvSpPr>
        <p:spPr>
          <a:xfrm>
            <a:off x="777240" y="2944368"/>
            <a:ext cx="5669280" cy="777240"/>
          </a:xfrm>
          <a:prstGeom prst="rect">
            <a:avLst/>
          </a:prstGeom>
          <a:noFill/>
        </p:spPr>
        <p:txBody>
          <a:bodyPr wrap="square" rtlCol="0" anchor="ctr"/>
          <a:lstStyle/>
          <a:p>
            <a:pPr marL="0" indent="0">
              <a:lnSpc>
                <a:spcPct val="115000"/>
              </a:lnSpc>
              <a:buNone/>
            </a:pPr>
            <a:r>
              <a:rPr lang="en-US" sz="1200" b="1" dirty="0">
                <a:solidFill>
                  <a:srgbClr val="15324A"/>
                </a:solidFill>
                <a:latin typeface="Calibri" panose="020F0502020204030204" pitchFamily="34" charset="0"/>
                <a:ea typeface="Calibri" panose="020F0502020204030204" pitchFamily="34" charset="-122"/>
                <a:cs typeface="Calibri" panose="020F0502020204030204" pitchFamily="34" charset="-120"/>
              </a:rPr>
              <a:t>Sharma H. và cộng sự (2024)  </a:t>
            </a:r>
            <a:r>
              <a:rPr lang="en-US" sz="1200" dirty="0">
                <a:solidFill>
                  <a:srgbClr val="5B6B75"/>
                </a:solidFill>
                <a:latin typeface="Calibri" panose="020F0502020204030204" pitchFamily="34" charset="0"/>
                <a:ea typeface="Calibri" panose="020F0502020204030204" pitchFamily="34" charset="-122"/>
                <a:cs typeface="Calibri" panose="020F0502020204030204" pitchFamily="34" charset="-120"/>
              </a:rPr>
              <a:t>So sánh SVR, RF, XGBoost, MLP, Linear — XGBoost tốt nhất.</a:t>
            </a:r>
            <a:endParaRPr lang="en-US" sz="1200" dirty="0"/>
          </a:p>
        </p:txBody>
      </p:sp>
      <p:sp>
        <p:nvSpPr>
          <p:cNvPr id="9" name="Shape 7"/>
          <p:cNvSpPr/>
          <p:nvPr/>
        </p:nvSpPr>
        <p:spPr>
          <a:xfrm>
            <a:off x="548640" y="4032504"/>
            <a:ext cx="91440" cy="91440"/>
          </a:xfrm>
          <a:prstGeom prst="ellipse">
            <a:avLst/>
          </a:prstGeom>
          <a:solidFill>
            <a:srgbClr val="C1652F"/>
          </a:solidFill>
        </p:spPr>
      </p:sp>
      <p:sp>
        <p:nvSpPr>
          <p:cNvPr id="10" name="Text 8"/>
          <p:cNvSpPr/>
          <p:nvPr/>
        </p:nvSpPr>
        <p:spPr>
          <a:xfrm>
            <a:off x="777240" y="3904488"/>
            <a:ext cx="5669280" cy="777240"/>
          </a:xfrm>
          <a:prstGeom prst="rect">
            <a:avLst/>
          </a:prstGeom>
          <a:noFill/>
        </p:spPr>
        <p:txBody>
          <a:bodyPr wrap="square" rtlCol="0" anchor="ctr"/>
          <a:lstStyle/>
          <a:p>
            <a:pPr marL="0" indent="0">
              <a:lnSpc>
                <a:spcPct val="115000"/>
              </a:lnSpc>
              <a:buNone/>
            </a:pPr>
            <a:r>
              <a:rPr lang="en-US" sz="1200" b="1" dirty="0">
                <a:solidFill>
                  <a:srgbClr val="15324A"/>
                </a:solidFill>
                <a:latin typeface="Calibri" panose="020F0502020204030204" pitchFamily="34" charset="0"/>
                <a:ea typeface="Calibri" panose="020F0502020204030204" pitchFamily="34" charset="-122"/>
                <a:cs typeface="Calibri" panose="020F0502020204030204" pitchFamily="34" charset="-120"/>
              </a:rPr>
              <a:t>So sánh RF &amp; XGBoost (Kaggle)  </a:t>
            </a:r>
            <a:r>
              <a:rPr lang="en-US" sz="1200" dirty="0">
                <a:solidFill>
                  <a:srgbClr val="5B6B75"/>
                </a:solidFill>
                <a:latin typeface="Calibri" panose="020F0502020204030204" pitchFamily="34" charset="0"/>
                <a:ea typeface="Calibri" panose="020F0502020204030204" pitchFamily="34" charset="-122"/>
                <a:cs typeface="Calibri" panose="020F0502020204030204" pitchFamily="34" charset="-120"/>
              </a:rPr>
              <a:t>Tiền xử lý tương đồng; XGBoost đạt R² ~89%.</a:t>
            </a:r>
            <a:endParaRPr lang="en-US" sz="1200" dirty="0"/>
          </a:p>
        </p:txBody>
      </p:sp>
      <p:sp>
        <p:nvSpPr>
          <p:cNvPr id="11" name="Shape 9"/>
          <p:cNvSpPr/>
          <p:nvPr/>
        </p:nvSpPr>
        <p:spPr>
          <a:xfrm>
            <a:off x="548640" y="4992624"/>
            <a:ext cx="91440" cy="91440"/>
          </a:xfrm>
          <a:prstGeom prst="ellipse">
            <a:avLst/>
          </a:prstGeom>
          <a:solidFill>
            <a:srgbClr val="C1652F"/>
          </a:solidFill>
        </p:spPr>
      </p:sp>
      <p:sp>
        <p:nvSpPr>
          <p:cNvPr id="12" name="Text 10"/>
          <p:cNvSpPr/>
          <p:nvPr/>
        </p:nvSpPr>
        <p:spPr>
          <a:xfrm>
            <a:off x="777240" y="4864608"/>
            <a:ext cx="5669280" cy="777240"/>
          </a:xfrm>
          <a:prstGeom prst="rect">
            <a:avLst/>
          </a:prstGeom>
          <a:noFill/>
        </p:spPr>
        <p:txBody>
          <a:bodyPr wrap="square" rtlCol="0" anchor="ctr"/>
          <a:lstStyle/>
          <a:p>
            <a:pPr marL="0" indent="0">
              <a:lnSpc>
                <a:spcPct val="115000"/>
              </a:lnSpc>
              <a:buNone/>
            </a:pPr>
            <a:r>
              <a:rPr lang="en-US" sz="1200" b="1" dirty="0">
                <a:solidFill>
                  <a:srgbClr val="15324A"/>
                </a:solidFill>
                <a:latin typeface="Calibri" panose="020F0502020204030204" pitchFamily="34" charset="0"/>
                <a:ea typeface="Calibri" panose="020F0502020204030204" pitchFamily="34" charset="-122"/>
                <a:cs typeface="Calibri" panose="020F0502020204030204" pitchFamily="34" charset="-120"/>
              </a:rPr>
              <a:t>Predicting House Prices (ML Models)  </a:t>
            </a:r>
            <a:r>
              <a:rPr lang="en-US" sz="1200" dirty="0">
                <a:solidFill>
                  <a:srgbClr val="5B6B75"/>
                </a:solidFill>
                <a:latin typeface="Calibri" panose="020F0502020204030204" pitchFamily="34" charset="0"/>
                <a:ea typeface="Calibri" panose="020F0502020204030204" pitchFamily="34" charset="-122"/>
                <a:cs typeface="Calibri" panose="020F0502020204030204" pitchFamily="34" charset="-120"/>
              </a:rPr>
              <a:t>So sánh Linear, Decision Tree, RF; RF tốt nhất trong 3 mô hình.</a:t>
            </a:r>
            <a:endParaRPr lang="en-US" sz="1200" dirty="0"/>
          </a:p>
        </p:txBody>
      </p:sp>
      <p:sp>
        <p:nvSpPr>
          <p:cNvPr id="13" name="Shape 11"/>
          <p:cNvSpPr/>
          <p:nvPr/>
        </p:nvSpPr>
        <p:spPr>
          <a:xfrm>
            <a:off x="6858000" y="1691640"/>
            <a:ext cx="4754880" cy="4480560"/>
          </a:xfrm>
          <a:prstGeom prst="roundRect">
            <a:avLst>
              <a:gd name="adj" fmla="val 1633"/>
            </a:avLst>
          </a:prstGeom>
          <a:solidFill>
            <a:srgbClr val="15324A"/>
          </a:solidFill>
        </p:spPr>
      </p:sp>
      <p:sp>
        <p:nvSpPr>
          <p:cNvPr id="14" name="Text 12"/>
          <p:cNvSpPr/>
          <p:nvPr/>
        </p:nvSpPr>
        <p:spPr>
          <a:xfrm>
            <a:off x="7178040" y="1874520"/>
            <a:ext cx="4114800" cy="320040"/>
          </a:xfrm>
          <a:prstGeom prst="rect">
            <a:avLst/>
          </a:prstGeom>
          <a:noFill/>
        </p:spPr>
        <p:txBody>
          <a:bodyPr wrap="square" rtlCol="0" anchor="ctr"/>
          <a:lstStyle/>
          <a:p>
            <a:pPr marL="0" indent="0">
              <a:buNone/>
            </a:pPr>
            <a:r>
              <a:rPr lang="en-US" sz="1300" b="1" dirty="0">
                <a:solidFill>
                  <a:srgbClr val="E8A874"/>
                </a:solidFill>
                <a:latin typeface="Calibri" panose="020F0502020204030204" pitchFamily="34" charset="0"/>
                <a:ea typeface="Calibri" panose="020F0502020204030204" pitchFamily="34" charset="-122"/>
                <a:cs typeface="Calibri" panose="020F0502020204030204" pitchFamily="34" charset="-120"/>
              </a:rPr>
              <a:t>PHÁT BIỂU BÀI TOÁN</a:t>
            </a:r>
            <a:endParaRPr lang="en-US" sz="1300" dirty="0"/>
          </a:p>
        </p:txBody>
      </p:sp>
      <p:sp>
        <p:nvSpPr>
          <p:cNvPr id="15" name="Shape 13"/>
          <p:cNvSpPr/>
          <p:nvPr/>
        </p:nvSpPr>
        <p:spPr>
          <a:xfrm>
            <a:off x="7178040" y="2331720"/>
            <a:ext cx="4114800" cy="804672"/>
          </a:xfrm>
          <a:prstGeom prst="roundRect">
            <a:avLst>
              <a:gd name="adj" fmla="val 6818"/>
            </a:avLst>
          </a:prstGeom>
          <a:solidFill>
            <a:srgbClr val="1F4763"/>
          </a:solidFill>
        </p:spPr>
      </p:sp>
      <p:sp>
        <p:nvSpPr>
          <p:cNvPr id="16" name="Text 14"/>
          <p:cNvSpPr/>
          <p:nvPr/>
        </p:nvSpPr>
        <p:spPr>
          <a:xfrm>
            <a:off x="7360920" y="2404872"/>
            <a:ext cx="3749040" cy="274320"/>
          </a:xfrm>
          <a:prstGeom prst="rect">
            <a:avLst/>
          </a:prstGeom>
          <a:noFill/>
        </p:spPr>
        <p:txBody>
          <a:bodyPr wrap="square" rtlCol="0" anchor="ctr"/>
          <a:lstStyle/>
          <a:p>
            <a:pPr marL="0" indent="0">
              <a:buNone/>
            </a:pPr>
            <a:r>
              <a:rPr lang="en-US" sz="1300" b="1" dirty="0">
                <a:solidFill>
                  <a:srgbClr val="E8A874"/>
                </a:solidFill>
                <a:latin typeface="Calibri" panose="020F0502020204030204" pitchFamily="34" charset="0"/>
                <a:ea typeface="Calibri" panose="020F0502020204030204" pitchFamily="34" charset="-122"/>
                <a:cs typeface="Calibri" panose="020F0502020204030204" pitchFamily="34" charset="-120"/>
              </a:rPr>
              <a:t>Input</a:t>
            </a:r>
            <a:endParaRPr lang="en-US" sz="1300" dirty="0"/>
          </a:p>
        </p:txBody>
      </p:sp>
      <p:sp>
        <p:nvSpPr>
          <p:cNvPr id="17" name="Text 15"/>
          <p:cNvSpPr/>
          <p:nvPr/>
        </p:nvSpPr>
        <p:spPr>
          <a:xfrm>
            <a:off x="7360920" y="2679192"/>
            <a:ext cx="3749040" cy="411480"/>
          </a:xfrm>
          <a:prstGeom prst="rect">
            <a:avLst/>
          </a:prstGeom>
          <a:noFill/>
        </p:spPr>
        <p:txBody>
          <a:bodyPr wrap="square" rtlCol="0" anchor="ctr"/>
          <a:lstStyle/>
          <a:p>
            <a:pPr marL="0" indent="0">
              <a:lnSpc>
                <a:spcPct val="110000"/>
              </a:lnSpc>
              <a:buNone/>
            </a:pPr>
            <a:r>
              <a:rPr lang="en-US" sz="1050" dirty="0">
                <a:solidFill>
                  <a:srgbClr val="DCE6EB"/>
                </a:solidFill>
                <a:latin typeface="Calibri" panose="020F0502020204030204" pitchFamily="34" charset="0"/>
                <a:ea typeface="Calibri" panose="020F0502020204030204" pitchFamily="34" charset="-122"/>
                <a:cs typeface="Calibri" panose="020F0502020204030204" pitchFamily="34" charset="-120"/>
              </a:rPr>
              <a:t>Thuộc tính nhà: diện tích, phòng, năm xây, khu vực, chất lượng...</a:t>
            </a:r>
            <a:endParaRPr lang="en-US" sz="1050" dirty="0"/>
          </a:p>
        </p:txBody>
      </p:sp>
      <p:sp>
        <p:nvSpPr>
          <p:cNvPr id="18" name="Text 16"/>
          <p:cNvSpPr/>
          <p:nvPr/>
        </p:nvSpPr>
        <p:spPr>
          <a:xfrm>
            <a:off x="9098280" y="3118104"/>
            <a:ext cx="274320" cy="201168"/>
          </a:xfrm>
          <a:prstGeom prst="rect">
            <a:avLst/>
          </a:prstGeom>
          <a:noFill/>
        </p:spPr>
        <p:txBody>
          <a:bodyPr wrap="square" rtlCol="0" anchor="ctr"/>
          <a:lstStyle/>
          <a:p>
            <a:pPr marL="0" indent="0" algn="ctr">
              <a:buNone/>
            </a:pPr>
            <a:r>
              <a:rPr lang="en-US" sz="1400" dirty="0">
                <a:solidFill>
                  <a:srgbClr val="E8A874"/>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9" name="Shape 17"/>
          <p:cNvSpPr/>
          <p:nvPr/>
        </p:nvSpPr>
        <p:spPr>
          <a:xfrm>
            <a:off x="7178040" y="3319272"/>
            <a:ext cx="4114800" cy="804672"/>
          </a:xfrm>
          <a:prstGeom prst="roundRect">
            <a:avLst>
              <a:gd name="adj" fmla="val 6818"/>
            </a:avLst>
          </a:prstGeom>
          <a:solidFill>
            <a:srgbClr val="1F4763"/>
          </a:solidFill>
        </p:spPr>
      </p:sp>
      <p:sp>
        <p:nvSpPr>
          <p:cNvPr id="20" name="Text 18"/>
          <p:cNvSpPr/>
          <p:nvPr/>
        </p:nvSpPr>
        <p:spPr>
          <a:xfrm>
            <a:off x="7360920" y="3392424"/>
            <a:ext cx="3749040" cy="274320"/>
          </a:xfrm>
          <a:prstGeom prst="rect">
            <a:avLst/>
          </a:prstGeom>
          <a:noFill/>
        </p:spPr>
        <p:txBody>
          <a:bodyPr wrap="square" rtlCol="0" anchor="ctr"/>
          <a:lstStyle/>
          <a:p>
            <a:pPr marL="0" indent="0">
              <a:buNone/>
            </a:pPr>
            <a:r>
              <a:rPr lang="en-US" sz="1300" b="1" dirty="0">
                <a:solidFill>
                  <a:srgbClr val="E8A874"/>
                </a:solidFill>
                <a:latin typeface="Calibri" panose="020F0502020204030204" pitchFamily="34" charset="0"/>
                <a:ea typeface="Calibri" panose="020F0502020204030204" pitchFamily="34" charset="-122"/>
                <a:cs typeface="Calibri" panose="020F0502020204030204" pitchFamily="34" charset="-120"/>
              </a:rPr>
              <a:t>Feature Engineering</a:t>
            </a:r>
            <a:endParaRPr lang="en-US" sz="1300" dirty="0"/>
          </a:p>
        </p:txBody>
      </p:sp>
      <p:sp>
        <p:nvSpPr>
          <p:cNvPr id="21" name="Text 19"/>
          <p:cNvSpPr/>
          <p:nvPr/>
        </p:nvSpPr>
        <p:spPr>
          <a:xfrm>
            <a:off x="7360920" y="3666744"/>
            <a:ext cx="3749040" cy="411480"/>
          </a:xfrm>
          <a:prstGeom prst="rect">
            <a:avLst/>
          </a:prstGeom>
          <a:noFill/>
        </p:spPr>
        <p:txBody>
          <a:bodyPr wrap="square" rtlCol="0" anchor="ctr"/>
          <a:lstStyle/>
          <a:p>
            <a:pPr marL="0" indent="0">
              <a:lnSpc>
                <a:spcPct val="110000"/>
              </a:lnSpc>
              <a:buNone/>
            </a:pPr>
            <a:r>
              <a:rPr lang="en-US" sz="1050" dirty="0">
                <a:solidFill>
                  <a:srgbClr val="DCE6EB"/>
                </a:solidFill>
                <a:latin typeface="Calibri" panose="020F0502020204030204" pitchFamily="34" charset="0"/>
                <a:ea typeface="Calibri" panose="020F0502020204030204" pitchFamily="34" charset="-122"/>
                <a:cs typeface="Calibri" panose="020F0502020204030204" pitchFamily="34" charset="-120"/>
              </a:rPr>
              <a:t>TotalSF, TotalBath, HouseAge... + One-Hot + StandardScaler + log1p(y)</a:t>
            </a:r>
            <a:endParaRPr lang="en-US" sz="1050" dirty="0"/>
          </a:p>
        </p:txBody>
      </p:sp>
      <p:sp>
        <p:nvSpPr>
          <p:cNvPr id="22" name="Text 20"/>
          <p:cNvSpPr/>
          <p:nvPr/>
        </p:nvSpPr>
        <p:spPr>
          <a:xfrm>
            <a:off x="9098280" y="4105656"/>
            <a:ext cx="274320" cy="201168"/>
          </a:xfrm>
          <a:prstGeom prst="rect">
            <a:avLst/>
          </a:prstGeom>
          <a:noFill/>
        </p:spPr>
        <p:txBody>
          <a:bodyPr wrap="square" rtlCol="0" anchor="ctr"/>
          <a:lstStyle/>
          <a:p>
            <a:pPr marL="0" indent="0" algn="ctr">
              <a:buNone/>
            </a:pPr>
            <a:r>
              <a:rPr lang="en-US" sz="1400" dirty="0">
                <a:solidFill>
                  <a:srgbClr val="E8A874"/>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3" name="Shape 21"/>
          <p:cNvSpPr/>
          <p:nvPr/>
        </p:nvSpPr>
        <p:spPr>
          <a:xfrm>
            <a:off x="7178040" y="4306824"/>
            <a:ext cx="4114800" cy="804672"/>
          </a:xfrm>
          <a:prstGeom prst="roundRect">
            <a:avLst>
              <a:gd name="adj" fmla="val 6818"/>
            </a:avLst>
          </a:prstGeom>
          <a:solidFill>
            <a:srgbClr val="1F4763"/>
          </a:solidFill>
        </p:spPr>
      </p:sp>
      <p:sp>
        <p:nvSpPr>
          <p:cNvPr id="24" name="Text 22"/>
          <p:cNvSpPr/>
          <p:nvPr/>
        </p:nvSpPr>
        <p:spPr>
          <a:xfrm>
            <a:off x="7360920" y="4379976"/>
            <a:ext cx="3749040" cy="274320"/>
          </a:xfrm>
          <a:prstGeom prst="rect">
            <a:avLst/>
          </a:prstGeom>
          <a:noFill/>
        </p:spPr>
        <p:txBody>
          <a:bodyPr wrap="square" rtlCol="0" anchor="ctr"/>
          <a:lstStyle/>
          <a:p>
            <a:pPr marL="0" indent="0">
              <a:buNone/>
            </a:pPr>
            <a:r>
              <a:rPr lang="en-US" sz="1300" b="1" dirty="0">
                <a:solidFill>
                  <a:srgbClr val="E8A874"/>
                </a:solidFill>
                <a:latin typeface="Calibri" panose="020F0502020204030204" pitchFamily="34" charset="0"/>
                <a:ea typeface="Calibri" panose="020F0502020204030204" pitchFamily="34" charset="-122"/>
                <a:cs typeface="Calibri" panose="020F0502020204030204" pitchFamily="34" charset="-120"/>
              </a:rPr>
              <a:t>Mô hình hồi quy</a:t>
            </a:r>
            <a:endParaRPr lang="en-US" sz="1300" dirty="0"/>
          </a:p>
        </p:txBody>
      </p:sp>
      <p:sp>
        <p:nvSpPr>
          <p:cNvPr id="25" name="Text 23"/>
          <p:cNvSpPr/>
          <p:nvPr/>
        </p:nvSpPr>
        <p:spPr>
          <a:xfrm>
            <a:off x="7360920" y="4654296"/>
            <a:ext cx="3749040" cy="411480"/>
          </a:xfrm>
          <a:prstGeom prst="rect">
            <a:avLst/>
          </a:prstGeom>
          <a:noFill/>
        </p:spPr>
        <p:txBody>
          <a:bodyPr wrap="square" rtlCol="0" anchor="ctr"/>
          <a:lstStyle/>
          <a:p>
            <a:pPr marL="0" indent="0">
              <a:lnSpc>
                <a:spcPct val="110000"/>
              </a:lnSpc>
              <a:buNone/>
            </a:pPr>
            <a:r>
              <a:rPr lang="en-US" sz="1050" dirty="0">
                <a:solidFill>
                  <a:srgbClr val="DCE6EB"/>
                </a:solidFill>
                <a:latin typeface="Calibri" panose="020F0502020204030204" pitchFamily="34" charset="0"/>
                <a:ea typeface="Calibri" panose="020F0502020204030204" pitchFamily="34" charset="-122"/>
                <a:cs typeface="Calibri" panose="020F0502020204030204" pitchFamily="34" charset="-120"/>
              </a:rPr>
              <a:t>Lasso · RF · SVR · XGBoost · MLP  →  h(x) ≈ y'</a:t>
            </a:r>
            <a:endParaRPr lang="en-US" sz="1050" dirty="0"/>
          </a:p>
        </p:txBody>
      </p:sp>
      <p:sp>
        <p:nvSpPr>
          <p:cNvPr id="26" name="Text 24"/>
          <p:cNvSpPr/>
          <p:nvPr/>
        </p:nvSpPr>
        <p:spPr>
          <a:xfrm>
            <a:off x="9098280" y="5093208"/>
            <a:ext cx="274320" cy="201168"/>
          </a:xfrm>
          <a:prstGeom prst="rect">
            <a:avLst/>
          </a:prstGeom>
          <a:noFill/>
        </p:spPr>
        <p:txBody>
          <a:bodyPr wrap="square" rtlCol="0" anchor="ctr"/>
          <a:lstStyle/>
          <a:p>
            <a:pPr marL="0" indent="0" algn="ctr">
              <a:buNone/>
            </a:pPr>
            <a:r>
              <a:rPr lang="en-US" sz="1400" dirty="0">
                <a:solidFill>
                  <a:srgbClr val="E8A874"/>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7" name="Shape 25"/>
          <p:cNvSpPr/>
          <p:nvPr/>
        </p:nvSpPr>
        <p:spPr>
          <a:xfrm>
            <a:off x="7178040" y="5294376"/>
            <a:ext cx="4114800" cy="804672"/>
          </a:xfrm>
          <a:prstGeom prst="roundRect">
            <a:avLst>
              <a:gd name="adj" fmla="val 6818"/>
            </a:avLst>
          </a:prstGeom>
          <a:solidFill>
            <a:srgbClr val="1F4763"/>
          </a:solidFill>
        </p:spPr>
      </p:sp>
      <p:sp>
        <p:nvSpPr>
          <p:cNvPr id="28" name="Text 26"/>
          <p:cNvSpPr/>
          <p:nvPr/>
        </p:nvSpPr>
        <p:spPr>
          <a:xfrm>
            <a:off x="7360920" y="5367528"/>
            <a:ext cx="3749040" cy="274320"/>
          </a:xfrm>
          <a:prstGeom prst="rect">
            <a:avLst/>
          </a:prstGeom>
          <a:noFill/>
        </p:spPr>
        <p:txBody>
          <a:bodyPr wrap="square" rtlCol="0" anchor="ctr"/>
          <a:lstStyle/>
          <a:p>
            <a:pPr marL="0" indent="0">
              <a:buNone/>
            </a:pPr>
            <a:r>
              <a:rPr lang="en-US" sz="1300" b="1" dirty="0">
                <a:solidFill>
                  <a:srgbClr val="E8A874"/>
                </a:solidFill>
                <a:latin typeface="Calibri" panose="020F0502020204030204" pitchFamily="34" charset="0"/>
                <a:ea typeface="Calibri" panose="020F0502020204030204" pitchFamily="34" charset="-122"/>
                <a:cs typeface="Calibri" panose="020F0502020204030204" pitchFamily="34" charset="-120"/>
              </a:rPr>
              <a:t>Output</a:t>
            </a:r>
            <a:endParaRPr lang="en-US" sz="1300" dirty="0"/>
          </a:p>
        </p:txBody>
      </p:sp>
      <p:sp>
        <p:nvSpPr>
          <p:cNvPr id="29" name="Text 27"/>
          <p:cNvSpPr/>
          <p:nvPr/>
        </p:nvSpPr>
        <p:spPr>
          <a:xfrm>
            <a:off x="7360920" y="5641848"/>
            <a:ext cx="3749040" cy="411480"/>
          </a:xfrm>
          <a:prstGeom prst="rect">
            <a:avLst/>
          </a:prstGeom>
          <a:noFill/>
        </p:spPr>
        <p:txBody>
          <a:bodyPr wrap="square" rtlCol="0" anchor="ctr"/>
          <a:lstStyle/>
          <a:p>
            <a:pPr marL="0" indent="0">
              <a:lnSpc>
                <a:spcPct val="110000"/>
              </a:lnSpc>
              <a:buNone/>
            </a:pPr>
            <a:r>
              <a:rPr lang="en-US" sz="1050" dirty="0">
                <a:solidFill>
                  <a:srgbClr val="DCE6EB"/>
                </a:solidFill>
                <a:latin typeface="Calibri" panose="020F0502020204030204" pitchFamily="34" charset="0"/>
                <a:ea typeface="Calibri" panose="020F0502020204030204" pitchFamily="34" charset="-122"/>
                <a:cs typeface="Calibri" panose="020F0502020204030204" pitchFamily="34" charset="-120"/>
              </a:rPr>
              <a:t>SalePrice (USD) = exp(h(x)) − 1 — biến liên tục</a:t>
            </a:r>
            <a:endParaRPr lang="en-US" sz="1050" dirty="0"/>
          </a:p>
        </p:txBody>
      </p:sp>
      <p:sp>
        <p:nvSpPr>
          <p:cNvPr id="30" name="Text 28"/>
          <p:cNvSpPr/>
          <p:nvPr/>
        </p:nvSpPr>
        <p:spPr>
          <a:xfrm>
            <a:off x="11521440" y="6473952"/>
            <a:ext cx="457200" cy="274320"/>
          </a:xfrm>
          <a:prstGeom prst="rect">
            <a:avLst/>
          </a:prstGeom>
          <a:noFill/>
        </p:spPr>
        <p:txBody>
          <a:bodyPr wrap="square" rtlCol="0" anchor="ctr"/>
          <a:lstStyle/>
          <a:p>
            <a:pPr marL="0" indent="0" algn="r">
              <a:buNone/>
            </a:pPr>
            <a:r>
              <a:rPr lang="en-US" sz="1000" dirty="0">
                <a:solidFill>
                  <a:srgbClr val="5B6B75"/>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p:spPr>
        <p:txBody>
          <a:bodyPr wrap="square" rtlCol="0" anchor="ctr"/>
          <a:lstStyle/>
          <a:p>
            <a:pPr marL="0" indent="0">
              <a:buNone/>
            </a:pPr>
            <a:r>
              <a:rPr lang="en-US" sz="1200" b="1" kern="0" spc="200" dirty="0">
                <a:solidFill>
                  <a:srgbClr val="C1652F"/>
                </a:solidFill>
                <a:latin typeface="Calibri" panose="020F0502020204030204" pitchFamily="34" charset="0"/>
                <a:ea typeface="Calibri" panose="020F0502020204030204" pitchFamily="34" charset="-122"/>
                <a:cs typeface="Calibri" panose="020F0502020204030204" pitchFamily="34" charset="-120"/>
              </a:rPr>
              <a:t>PHƯƠNG PHÁP</a:t>
            </a:r>
            <a:endParaRPr lang="en-US" sz="1200" dirty="0"/>
          </a:p>
        </p:txBody>
      </p:sp>
      <p:sp>
        <p:nvSpPr>
          <p:cNvPr id="3" name="Text 1"/>
          <p:cNvSpPr/>
          <p:nvPr/>
        </p:nvSpPr>
        <p:spPr>
          <a:xfrm>
            <a:off x="548640" y="685800"/>
            <a:ext cx="10972800" cy="731520"/>
          </a:xfrm>
          <a:prstGeom prst="rect">
            <a:avLst/>
          </a:prstGeom>
          <a:noFill/>
        </p:spPr>
        <p:txBody>
          <a:bodyPr wrap="square" rtlCol="0" anchor="ctr"/>
          <a:lstStyle/>
          <a:p>
            <a:pPr marL="0" indent="0">
              <a:buNone/>
            </a:pPr>
            <a:r>
              <a:rPr lang="en-US" sz="3200" b="1" dirty="0">
                <a:solidFill>
                  <a:srgbClr val="15324A"/>
                </a:solidFill>
                <a:latin typeface="Cambria" panose="02040503050406030204" pitchFamily="34" charset="0"/>
                <a:ea typeface="Cambria" panose="02040503050406030204" pitchFamily="34" charset="-122"/>
                <a:cs typeface="Cambria" panose="02040503050406030204" pitchFamily="34" charset="-120"/>
              </a:rPr>
              <a:t>Phương pháp &amp; Thuật toán</a:t>
            </a:r>
            <a:endParaRPr lang="en-US" sz="3200" dirty="0"/>
          </a:p>
        </p:txBody>
      </p:sp>
      <p:sp>
        <p:nvSpPr>
          <p:cNvPr id="4" name="Shape 2"/>
          <p:cNvSpPr/>
          <p:nvPr/>
        </p:nvSpPr>
        <p:spPr>
          <a:xfrm>
            <a:off x="548640" y="1691640"/>
            <a:ext cx="11064240" cy="1635125"/>
          </a:xfrm>
          <a:prstGeom prst="roundRect">
            <a:avLst>
              <a:gd name="adj" fmla="val 5161"/>
            </a:avLst>
          </a:prstGeom>
          <a:solidFill>
            <a:srgbClr val="EEF1F3"/>
          </a:solidFill>
        </p:spPr>
      </p:sp>
      <p:sp>
        <p:nvSpPr>
          <p:cNvPr id="5" name="Shape 3"/>
          <p:cNvSpPr/>
          <p:nvPr/>
        </p:nvSpPr>
        <p:spPr>
          <a:xfrm>
            <a:off x="777240" y="1901952"/>
            <a:ext cx="777240" cy="777240"/>
          </a:xfrm>
          <a:prstGeom prst="ellipse">
            <a:avLst/>
          </a:prstGeom>
          <a:solidFill>
            <a:srgbClr val="15324A"/>
          </a:solidFill>
        </p:spPr>
      </p:sp>
      <p:pic>
        <p:nvPicPr>
          <p:cNvPr id="6" name="Image 0" descr="icons/cogs.png"/>
          <p:cNvPicPr>
            <a:picLocks noChangeAspect="1"/>
          </p:cNvPicPr>
          <p:nvPr/>
        </p:nvPicPr>
        <p:blipFill>
          <a:blip r:embed="rId1"/>
          <a:stretch>
            <a:fillRect/>
          </a:stretch>
        </p:blipFill>
        <p:spPr>
          <a:xfrm>
            <a:off x="979322" y="2104034"/>
            <a:ext cx="373075" cy="373075"/>
          </a:xfrm>
          <a:prstGeom prst="rect">
            <a:avLst/>
          </a:prstGeom>
        </p:spPr>
      </p:pic>
      <p:sp>
        <p:nvSpPr>
          <p:cNvPr id="7" name="Text 4"/>
          <p:cNvSpPr/>
          <p:nvPr/>
        </p:nvSpPr>
        <p:spPr>
          <a:xfrm>
            <a:off x="1783080" y="1810512"/>
            <a:ext cx="5486400" cy="365760"/>
          </a:xfrm>
          <a:prstGeom prst="rect">
            <a:avLst/>
          </a:prstGeom>
          <a:noFill/>
        </p:spPr>
        <p:txBody>
          <a:bodyPr wrap="square" rtlCol="0" anchor="ctr"/>
          <a:lstStyle/>
          <a:p>
            <a:pPr marL="0" indent="0">
              <a:buNone/>
            </a:pPr>
            <a:r>
              <a:rPr lang="en-US" sz="1600" b="1" dirty="0">
                <a:solidFill>
                  <a:srgbClr val="15324A"/>
                </a:solidFill>
                <a:latin typeface="Cambria" panose="02040503050406030204" pitchFamily="34" charset="0"/>
                <a:ea typeface="Cambria" panose="02040503050406030204" pitchFamily="34" charset="-122"/>
                <a:cs typeface="Cambria" panose="02040503050406030204" pitchFamily="34" charset="-120"/>
              </a:rPr>
              <a:t>Kỹ nghệ đặc trưng (Feature Engineering)</a:t>
            </a:r>
            <a:endParaRPr lang="en-US" sz="1600" dirty="0"/>
          </a:p>
        </p:txBody>
      </p:sp>
      <p:sp>
        <p:nvSpPr>
          <p:cNvPr id="8" name="Text 5"/>
          <p:cNvSpPr/>
          <p:nvPr/>
        </p:nvSpPr>
        <p:spPr>
          <a:xfrm>
            <a:off x="1783080" y="2212975"/>
            <a:ext cx="9601200" cy="944880"/>
          </a:xfrm>
          <a:prstGeom prst="rect">
            <a:avLst/>
          </a:prstGeom>
          <a:noFill/>
        </p:spPr>
        <p:txBody>
          <a:bodyPr wrap="square" rtlCol="0" anchor="ctr"/>
          <a:lstStyle/>
          <a:p>
            <a:pPr marL="0" indent="0">
              <a:lnSpc>
                <a:spcPct val="125000"/>
              </a:lnSpc>
              <a:buNone/>
            </a:pPr>
            <a:r>
              <a:rPr lang="en-US" sz="1150" dirty="0">
                <a:solidFill>
                  <a:srgbClr val="1F2A33"/>
                </a:solidFill>
                <a:latin typeface="Courier New" panose="02070309020205020404" pitchFamily="34" charset="0"/>
                <a:ea typeface="Courier New" panose="02070309020205020404" pitchFamily="34" charset="-122"/>
                <a:cs typeface="Courier New" panose="02070309020205020404" pitchFamily="34" charset="-120"/>
              </a:rPr>
              <a:t>TotalSF = TotalBsmtSF + 1stFlrSF + 2ndFlrSF</a:t>
            </a:r>
            <a:endParaRPr lang="en-US" sz="1150" dirty="0"/>
          </a:p>
          <a:p>
            <a:pPr marL="0" indent="0">
              <a:lnSpc>
                <a:spcPct val="125000"/>
              </a:lnSpc>
              <a:buNone/>
            </a:pPr>
            <a:r>
              <a:rPr lang="en-US" sz="1150" dirty="0">
                <a:solidFill>
                  <a:srgbClr val="1F2A33"/>
                </a:solidFill>
                <a:latin typeface="Courier New" panose="02070309020205020404" pitchFamily="34" charset="0"/>
                <a:ea typeface="Courier New" panose="02070309020205020404" pitchFamily="34" charset="-122"/>
                <a:cs typeface="Courier New" panose="02070309020205020404" pitchFamily="34" charset="-120"/>
              </a:rPr>
              <a:t>TotalBath = FullBath + 0.5·HalfBath + BsmtFullBath + 0.5·BsmtHalfBath</a:t>
            </a:r>
            <a:endParaRPr lang="en-US" sz="1150" dirty="0"/>
          </a:p>
          <a:p>
            <a:pPr marL="0" indent="0">
              <a:lnSpc>
                <a:spcPct val="125000"/>
              </a:lnSpc>
              <a:buNone/>
            </a:pPr>
            <a:r>
              <a:rPr lang="en-US" sz="1150" dirty="0">
                <a:solidFill>
                  <a:srgbClr val="1F2A33"/>
                </a:solidFill>
                <a:latin typeface="Courier New" panose="02070309020205020404" pitchFamily="34" charset="0"/>
                <a:ea typeface="Courier New" panose="02070309020205020404" pitchFamily="34" charset="-122"/>
                <a:cs typeface="Courier New" panose="02070309020205020404" pitchFamily="34" charset="-120"/>
              </a:rPr>
              <a:t>HouseAge = YrSold − YearBuilt      </a:t>
            </a:r>
            <a:endParaRPr lang="en-US" sz="1150" dirty="0">
              <a:solidFill>
                <a:srgbClr val="1F2A33"/>
              </a:solidFill>
              <a:latin typeface="Courier New" panose="02070309020205020404" pitchFamily="34" charset="0"/>
              <a:ea typeface="Courier New" panose="02070309020205020404" pitchFamily="34" charset="-122"/>
              <a:cs typeface="Courier New" panose="02070309020205020404" pitchFamily="34" charset="-120"/>
            </a:endParaRPr>
          </a:p>
          <a:p>
            <a:pPr marL="0" indent="0">
              <a:lnSpc>
                <a:spcPct val="125000"/>
              </a:lnSpc>
              <a:buNone/>
            </a:pPr>
            <a:r>
              <a:rPr lang="en-US" sz="1150" dirty="0">
                <a:solidFill>
                  <a:srgbClr val="1F2A33"/>
                </a:solidFill>
                <a:latin typeface="Courier New" panose="02070309020205020404" pitchFamily="34" charset="0"/>
                <a:ea typeface="Courier New" panose="02070309020205020404" pitchFamily="34" charset="-122"/>
                <a:cs typeface="Courier New" panose="02070309020205020404" pitchFamily="34" charset="-120"/>
              </a:rPr>
              <a:t>RemodAge = YrSold − YearRemodAdd</a:t>
            </a:r>
            <a:endParaRPr lang="en-US" sz="1150" dirty="0"/>
          </a:p>
          <a:p>
            <a:pPr marL="0" indent="0">
              <a:lnSpc>
                <a:spcPct val="125000"/>
              </a:lnSpc>
              <a:buNone/>
            </a:pPr>
            <a:r>
              <a:rPr lang="en-US" sz="1150" dirty="0">
                <a:solidFill>
                  <a:srgbClr val="1F2A33"/>
                </a:solidFill>
                <a:latin typeface="Courier New" panose="02070309020205020404" pitchFamily="34" charset="0"/>
                <a:ea typeface="Courier New" panose="02070309020205020404" pitchFamily="34" charset="-122"/>
                <a:cs typeface="Courier New" panose="02070309020205020404" pitchFamily="34" charset="-120"/>
              </a:rPr>
              <a:t>TotalQual = OverallQual + OverallCond</a:t>
            </a:r>
            <a:endParaRPr lang="en-US" sz="1150" dirty="0"/>
          </a:p>
        </p:txBody>
      </p:sp>
      <p:sp>
        <p:nvSpPr>
          <p:cNvPr id="9" name="Text 6"/>
          <p:cNvSpPr/>
          <p:nvPr/>
        </p:nvSpPr>
        <p:spPr>
          <a:xfrm>
            <a:off x="548640" y="3337560"/>
            <a:ext cx="5486400" cy="274320"/>
          </a:xfrm>
          <a:prstGeom prst="rect">
            <a:avLst/>
          </a:prstGeom>
          <a:noFill/>
        </p:spPr>
        <p:txBody>
          <a:bodyPr wrap="square" rtlCol="0" anchor="ctr"/>
          <a:lstStyle/>
          <a:p>
            <a:pPr marL="0" indent="0">
              <a:buNone/>
            </a:pPr>
            <a:r>
              <a:rPr lang="vi-VN" altLang="en-US" sz="1300" b="1" dirty="0">
                <a:solidFill>
                  <a:srgbClr val="C1652F"/>
                </a:solidFill>
                <a:latin typeface="Calibri" panose="020F0502020204030204" pitchFamily="34" charset="0"/>
                <a:ea typeface="Calibri" panose="020F0502020204030204" pitchFamily="34" charset="-122"/>
                <a:cs typeface="Calibri" panose="020F0502020204030204" pitchFamily="34" charset="-120"/>
              </a:rPr>
              <a:t>5</a:t>
            </a:r>
            <a:r>
              <a:rPr lang="en-US" sz="1300" b="1" dirty="0">
                <a:solidFill>
                  <a:srgbClr val="C1652F"/>
                </a:solidFill>
                <a:latin typeface="Calibri" panose="020F0502020204030204" pitchFamily="34" charset="0"/>
                <a:ea typeface="Calibri" panose="020F0502020204030204" pitchFamily="34" charset="-122"/>
                <a:cs typeface="Calibri" panose="020F0502020204030204" pitchFamily="34" charset="-120"/>
              </a:rPr>
              <a:t> THUẬT TOÁN HỒI QUY</a:t>
            </a:r>
            <a:endParaRPr lang="en-US" sz="1300" dirty="0"/>
          </a:p>
        </p:txBody>
      </p:sp>
      <p:sp>
        <p:nvSpPr>
          <p:cNvPr id="10" name="Shape 7"/>
          <p:cNvSpPr/>
          <p:nvPr/>
        </p:nvSpPr>
        <p:spPr>
          <a:xfrm>
            <a:off x="548640" y="3703320"/>
            <a:ext cx="1993392" cy="2423160"/>
          </a:xfrm>
          <a:prstGeom prst="roundRect">
            <a:avLst>
              <a:gd name="adj" fmla="val 3211"/>
            </a:avLst>
          </a:prstGeom>
          <a:solidFill>
            <a:srgbClr val="15324A"/>
          </a:solidFill>
        </p:spPr>
        <p:txBody>
          <a:bodyPr/>
          <a:p>
            <a:endParaRPr lang="en-US"/>
          </a:p>
        </p:txBody>
      </p:sp>
      <p:sp>
        <p:nvSpPr>
          <p:cNvPr id="11" name="Shape 8"/>
          <p:cNvSpPr/>
          <p:nvPr/>
        </p:nvSpPr>
        <p:spPr>
          <a:xfrm>
            <a:off x="1179576" y="3959352"/>
            <a:ext cx="731520" cy="731520"/>
          </a:xfrm>
          <a:prstGeom prst="ellipse">
            <a:avLst/>
          </a:prstGeom>
          <a:solidFill>
            <a:srgbClr val="C1652F"/>
          </a:solidFill>
        </p:spPr>
      </p:sp>
      <p:pic>
        <p:nvPicPr>
          <p:cNvPr id="12" name="Image 1" descr="icons/calc.png"/>
          <p:cNvPicPr>
            <a:picLocks noChangeAspect="1"/>
          </p:cNvPicPr>
          <p:nvPr/>
        </p:nvPicPr>
        <p:blipFill>
          <a:blip r:embed="rId2"/>
          <a:stretch>
            <a:fillRect/>
          </a:stretch>
        </p:blipFill>
        <p:spPr>
          <a:xfrm>
            <a:off x="1369771" y="4149547"/>
            <a:ext cx="351130" cy="351130"/>
          </a:xfrm>
          <a:prstGeom prst="rect">
            <a:avLst/>
          </a:prstGeom>
        </p:spPr>
      </p:pic>
      <p:sp>
        <p:nvSpPr>
          <p:cNvPr id="13" name="Text 9"/>
          <p:cNvSpPr/>
          <p:nvPr/>
        </p:nvSpPr>
        <p:spPr>
          <a:xfrm>
            <a:off x="640080" y="4846320"/>
            <a:ext cx="1810512" cy="365760"/>
          </a:xfrm>
          <a:prstGeom prst="rect">
            <a:avLst/>
          </a:prstGeom>
          <a:noFill/>
        </p:spPr>
        <p:txBody>
          <a:bodyPr wrap="square" rtlCol="0" anchor="ctr"/>
          <a:lstStyle/>
          <a:p>
            <a:pPr marL="0" indent="0" algn="ctr">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Lasso</a:t>
            </a:r>
            <a:endParaRPr lang="en-US" sz="1400" dirty="0"/>
          </a:p>
        </p:txBody>
      </p:sp>
      <p:sp>
        <p:nvSpPr>
          <p:cNvPr id="14" name="Text 10"/>
          <p:cNvSpPr/>
          <p:nvPr/>
        </p:nvSpPr>
        <p:spPr>
          <a:xfrm>
            <a:off x="685800" y="5212080"/>
            <a:ext cx="1719072" cy="868680"/>
          </a:xfrm>
          <a:prstGeom prst="rect">
            <a:avLst/>
          </a:prstGeom>
          <a:noFill/>
        </p:spPr>
        <p:txBody>
          <a:bodyPr wrap="square" rtlCol="0" anchor="ctr"/>
          <a:lstStyle/>
          <a:p>
            <a:pPr marL="0" indent="0" algn="ctr">
              <a:lnSpc>
                <a:spcPct val="115000"/>
              </a:lnSpc>
              <a:buNone/>
            </a:pPr>
            <a:r>
              <a:rPr lang="en-US" sz="1000" dirty="0">
                <a:solidFill>
                  <a:srgbClr val="DCE6EB"/>
                </a:solidFill>
                <a:latin typeface="Calibri" panose="020F0502020204030204" pitchFamily="34" charset="0"/>
                <a:ea typeface="Calibri" panose="020F0502020204030204" pitchFamily="34" charset="-122"/>
                <a:cs typeface="Calibri" panose="020F0502020204030204" pitchFamily="34" charset="-120"/>
              </a:rPr>
              <a:t>L1 Regularization — tự động chọn lọc đặc trưng</a:t>
            </a:r>
            <a:endParaRPr lang="en-US" sz="1000" dirty="0"/>
          </a:p>
        </p:txBody>
      </p:sp>
      <p:sp>
        <p:nvSpPr>
          <p:cNvPr id="15" name="Shape 11"/>
          <p:cNvSpPr/>
          <p:nvPr/>
        </p:nvSpPr>
        <p:spPr>
          <a:xfrm>
            <a:off x="2816352" y="3703320"/>
            <a:ext cx="1993392" cy="2423160"/>
          </a:xfrm>
          <a:prstGeom prst="roundRect">
            <a:avLst>
              <a:gd name="adj" fmla="val 3211"/>
            </a:avLst>
          </a:prstGeom>
          <a:solidFill>
            <a:srgbClr val="EEF1F3"/>
          </a:solidFill>
        </p:spPr>
      </p:sp>
      <p:sp>
        <p:nvSpPr>
          <p:cNvPr id="16" name="Shape 12"/>
          <p:cNvSpPr/>
          <p:nvPr/>
        </p:nvSpPr>
        <p:spPr>
          <a:xfrm>
            <a:off x="3447288" y="3959352"/>
            <a:ext cx="731520" cy="731520"/>
          </a:xfrm>
          <a:prstGeom prst="ellipse">
            <a:avLst/>
          </a:prstGeom>
          <a:solidFill>
            <a:srgbClr val="C1652F"/>
          </a:solidFill>
        </p:spPr>
      </p:sp>
      <p:pic>
        <p:nvPicPr>
          <p:cNvPr id="17" name="Image 2" descr="icons/tree.png"/>
          <p:cNvPicPr>
            <a:picLocks noChangeAspect="1"/>
          </p:cNvPicPr>
          <p:nvPr/>
        </p:nvPicPr>
        <p:blipFill>
          <a:blip r:embed="rId3"/>
          <a:stretch>
            <a:fillRect/>
          </a:stretch>
        </p:blipFill>
        <p:spPr>
          <a:xfrm>
            <a:off x="3637483" y="4149547"/>
            <a:ext cx="351130" cy="351130"/>
          </a:xfrm>
          <a:prstGeom prst="rect">
            <a:avLst/>
          </a:prstGeom>
        </p:spPr>
      </p:pic>
      <p:sp>
        <p:nvSpPr>
          <p:cNvPr id="18" name="Text 13"/>
          <p:cNvSpPr/>
          <p:nvPr/>
        </p:nvSpPr>
        <p:spPr>
          <a:xfrm>
            <a:off x="2907792" y="4846320"/>
            <a:ext cx="1810512" cy="365760"/>
          </a:xfrm>
          <a:prstGeom prst="rect">
            <a:avLst/>
          </a:prstGeom>
          <a:noFill/>
        </p:spPr>
        <p:txBody>
          <a:bodyPr wrap="square" rtlCol="0" anchor="ctr"/>
          <a:lstStyle/>
          <a:p>
            <a:pPr marL="0" indent="0" algn="ctr">
              <a:buNone/>
            </a:pPr>
            <a:r>
              <a:rPr lang="en-US" sz="1400" b="1" dirty="0">
                <a:solidFill>
                  <a:srgbClr val="15324A"/>
                </a:solidFill>
                <a:latin typeface="Cambria" panose="02040503050406030204" pitchFamily="34" charset="0"/>
                <a:ea typeface="Cambria" panose="02040503050406030204" pitchFamily="34" charset="-122"/>
                <a:cs typeface="Cambria" panose="02040503050406030204" pitchFamily="34" charset="-120"/>
              </a:rPr>
              <a:t>Random Forest</a:t>
            </a:r>
            <a:endParaRPr lang="en-US" sz="1400" dirty="0"/>
          </a:p>
        </p:txBody>
      </p:sp>
      <p:sp>
        <p:nvSpPr>
          <p:cNvPr id="19" name="Text 14"/>
          <p:cNvSpPr/>
          <p:nvPr/>
        </p:nvSpPr>
        <p:spPr>
          <a:xfrm>
            <a:off x="2953512" y="5212080"/>
            <a:ext cx="1719072" cy="868680"/>
          </a:xfrm>
          <a:prstGeom prst="rect">
            <a:avLst/>
          </a:prstGeom>
          <a:noFill/>
        </p:spPr>
        <p:txBody>
          <a:bodyPr wrap="square" rtlCol="0" anchor="ctr"/>
          <a:lstStyle/>
          <a:p>
            <a:pPr marL="0" indent="0" algn="ctr">
              <a:lnSpc>
                <a:spcPct val="115000"/>
              </a:lnSpc>
              <a:buNone/>
            </a:pPr>
            <a:r>
              <a:rPr lang="en-US" sz="1000" dirty="0">
                <a:solidFill>
                  <a:srgbClr val="5B6B75"/>
                </a:solidFill>
                <a:latin typeface="Calibri" panose="020F0502020204030204" pitchFamily="34" charset="0"/>
                <a:ea typeface="Calibri" panose="020F0502020204030204" pitchFamily="34" charset="-122"/>
                <a:cs typeface="Calibri" panose="020F0502020204030204" pitchFamily="34" charset="-120"/>
              </a:rPr>
              <a:t>Bagging — trung bình nhiều cây quyết định</a:t>
            </a:r>
            <a:endParaRPr lang="en-US" sz="1000" dirty="0"/>
          </a:p>
        </p:txBody>
      </p:sp>
      <p:sp>
        <p:nvSpPr>
          <p:cNvPr id="20" name="Shape 15"/>
          <p:cNvSpPr/>
          <p:nvPr/>
        </p:nvSpPr>
        <p:spPr>
          <a:xfrm>
            <a:off x="5084064" y="3703320"/>
            <a:ext cx="1993392" cy="2423160"/>
          </a:xfrm>
          <a:prstGeom prst="roundRect">
            <a:avLst>
              <a:gd name="adj" fmla="val 3211"/>
            </a:avLst>
          </a:prstGeom>
          <a:solidFill>
            <a:srgbClr val="EEF1F3"/>
          </a:solidFill>
        </p:spPr>
      </p:sp>
      <p:sp>
        <p:nvSpPr>
          <p:cNvPr id="21" name="Shape 16"/>
          <p:cNvSpPr/>
          <p:nvPr/>
        </p:nvSpPr>
        <p:spPr>
          <a:xfrm>
            <a:off x="5715000" y="3959352"/>
            <a:ext cx="731520" cy="731520"/>
          </a:xfrm>
          <a:prstGeom prst="ellipse">
            <a:avLst/>
          </a:prstGeom>
          <a:solidFill>
            <a:srgbClr val="C1652F"/>
          </a:solidFill>
        </p:spPr>
      </p:sp>
      <p:pic>
        <p:nvPicPr>
          <p:cNvPr id="22" name="Image 3" descr="icons/filter.png"/>
          <p:cNvPicPr>
            <a:picLocks noChangeAspect="1"/>
          </p:cNvPicPr>
          <p:nvPr/>
        </p:nvPicPr>
        <p:blipFill>
          <a:blip r:embed="rId4"/>
          <a:stretch>
            <a:fillRect/>
          </a:stretch>
        </p:blipFill>
        <p:spPr>
          <a:xfrm>
            <a:off x="5905195" y="4149547"/>
            <a:ext cx="351130" cy="351130"/>
          </a:xfrm>
          <a:prstGeom prst="rect">
            <a:avLst/>
          </a:prstGeom>
        </p:spPr>
      </p:pic>
      <p:sp>
        <p:nvSpPr>
          <p:cNvPr id="23" name="Text 17"/>
          <p:cNvSpPr/>
          <p:nvPr/>
        </p:nvSpPr>
        <p:spPr>
          <a:xfrm>
            <a:off x="5175504" y="4846320"/>
            <a:ext cx="1810512" cy="365760"/>
          </a:xfrm>
          <a:prstGeom prst="rect">
            <a:avLst/>
          </a:prstGeom>
          <a:noFill/>
        </p:spPr>
        <p:txBody>
          <a:bodyPr wrap="square" rtlCol="0" anchor="ctr"/>
          <a:lstStyle/>
          <a:p>
            <a:pPr marL="0" indent="0" algn="ctr">
              <a:buNone/>
            </a:pPr>
            <a:r>
              <a:rPr lang="en-US" sz="1400" b="1" dirty="0">
                <a:solidFill>
                  <a:srgbClr val="15324A"/>
                </a:solidFill>
                <a:latin typeface="Cambria" panose="02040503050406030204" pitchFamily="34" charset="0"/>
                <a:ea typeface="Cambria" panose="02040503050406030204" pitchFamily="34" charset="-122"/>
                <a:cs typeface="Cambria" panose="02040503050406030204" pitchFamily="34" charset="-120"/>
              </a:rPr>
              <a:t>SVR</a:t>
            </a:r>
            <a:endParaRPr lang="en-US" sz="1400" dirty="0"/>
          </a:p>
        </p:txBody>
      </p:sp>
      <p:sp>
        <p:nvSpPr>
          <p:cNvPr id="24" name="Text 18"/>
          <p:cNvSpPr/>
          <p:nvPr/>
        </p:nvSpPr>
        <p:spPr>
          <a:xfrm>
            <a:off x="5221224" y="5212080"/>
            <a:ext cx="1719072" cy="868680"/>
          </a:xfrm>
          <a:prstGeom prst="rect">
            <a:avLst/>
          </a:prstGeom>
          <a:noFill/>
        </p:spPr>
        <p:txBody>
          <a:bodyPr wrap="square" rtlCol="0" anchor="ctr"/>
          <a:lstStyle/>
          <a:p>
            <a:pPr marL="0" indent="0" algn="ctr">
              <a:lnSpc>
                <a:spcPct val="115000"/>
              </a:lnSpc>
              <a:buNone/>
            </a:pPr>
            <a:r>
              <a:rPr lang="en-US" sz="1000" dirty="0">
                <a:solidFill>
                  <a:srgbClr val="5B6B75"/>
                </a:solidFill>
                <a:latin typeface="Calibri" panose="020F0502020204030204" pitchFamily="34" charset="0"/>
                <a:ea typeface="Calibri" panose="020F0502020204030204" pitchFamily="34" charset="-122"/>
                <a:cs typeface="Calibri" panose="020F0502020204030204" pitchFamily="34" charset="-120"/>
              </a:rPr>
              <a:t>Kernel RBF + SelectKBest (60 đặc trưng)</a:t>
            </a:r>
            <a:endParaRPr lang="en-US" sz="1000" dirty="0"/>
          </a:p>
        </p:txBody>
      </p:sp>
      <p:sp>
        <p:nvSpPr>
          <p:cNvPr id="25" name="Shape 19"/>
          <p:cNvSpPr/>
          <p:nvPr/>
        </p:nvSpPr>
        <p:spPr>
          <a:xfrm>
            <a:off x="7351776" y="3703320"/>
            <a:ext cx="1993392" cy="2423160"/>
          </a:xfrm>
          <a:prstGeom prst="roundRect">
            <a:avLst>
              <a:gd name="adj" fmla="val 3211"/>
            </a:avLst>
          </a:prstGeom>
          <a:solidFill>
            <a:srgbClr val="EEF1F3"/>
          </a:solidFill>
        </p:spPr>
      </p:sp>
      <p:sp>
        <p:nvSpPr>
          <p:cNvPr id="26" name="Shape 20"/>
          <p:cNvSpPr/>
          <p:nvPr/>
        </p:nvSpPr>
        <p:spPr>
          <a:xfrm>
            <a:off x="7982712" y="3959352"/>
            <a:ext cx="731520" cy="731520"/>
          </a:xfrm>
          <a:prstGeom prst="ellipse">
            <a:avLst/>
          </a:prstGeom>
          <a:solidFill>
            <a:srgbClr val="C1652F"/>
          </a:solidFill>
        </p:spPr>
      </p:sp>
      <p:pic>
        <p:nvPicPr>
          <p:cNvPr id="27" name="Image 4" descr="icons/exchange.png"/>
          <p:cNvPicPr>
            <a:picLocks noChangeAspect="1"/>
          </p:cNvPicPr>
          <p:nvPr/>
        </p:nvPicPr>
        <p:blipFill>
          <a:blip r:embed="rId5"/>
          <a:stretch>
            <a:fillRect/>
          </a:stretch>
        </p:blipFill>
        <p:spPr>
          <a:xfrm>
            <a:off x="8172907" y="4149547"/>
            <a:ext cx="351130" cy="351130"/>
          </a:xfrm>
          <a:prstGeom prst="rect">
            <a:avLst/>
          </a:prstGeom>
        </p:spPr>
      </p:pic>
      <p:sp>
        <p:nvSpPr>
          <p:cNvPr id="28" name="Text 21"/>
          <p:cNvSpPr/>
          <p:nvPr/>
        </p:nvSpPr>
        <p:spPr>
          <a:xfrm>
            <a:off x="7443216" y="4846320"/>
            <a:ext cx="1810512" cy="365760"/>
          </a:xfrm>
          <a:prstGeom prst="rect">
            <a:avLst/>
          </a:prstGeom>
          <a:noFill/>
        </p:spPr>
        <p:txBody>
          <a:bodyPr wrap="square" rtlCol="0" anchor="ctr"/>
          <a:lstStyle/>
          <a:p>
            <a:pPr marL="0" indent="0" algn="ctr">
              <a:buNone/>
            </a:pPr>
            <a:r>
              <a:rPr lang="en-US" sz="1400" b="1" dirty="0">
                <a:solidFill>
                  <a:srgbClr val="15324A"/>
                </a:solidFill>
                <a:latin typeface="Cambria" panose="02040503050406030204" pitchFamily="34" charset="0"/>
                <a:ea typeface="Cambria" panose="02040503050406030204" pitchFamily="34" charset="-122"/>
                <a:cs typeface="Cambria" panose="02040503050406030204" pitchFamily="34" charset="-120"/>
              </a:rPr>
              <a:t>XGBoost</a:t>
            </a:r>
            <a:endParaRPr lang="en-US" sz="1400" dirty="0"/>
          </a:p>
        </p:txBody>
      </p:sp>
      <p:sp>
        <p:nvSpPr>
          <p:cNvPr id="29" name="Text 22"/>
          <p:cNvSpPr/>
          <p:nvPr/>
        </p:nvSpPr>
        <p:spPr>
          <a:xfrm>
            <a:off x="7488936" y="5212080"/>
            <a:ext cx="1719072" cy="868680"/>
          </a:xfrm>
          <a:prstGeom prst="rect">
            <a:avLst/>
          </a:prstGeom>
          <a:noFill/>
        </p:spPr>
        <p:txBody>
          <a:bodyPr wrap="square" rtlCol="0" anchor="ctr"/>
          <a:lstStyle/>
          <a:p>
            <a:pPr marL="0" indent="0" algn="ctr">
              <a:lnSpc>
                <a:spcPct val="115000"/>
              </a:lnSpc>
              <a:buNone/>
            </a:pPr>
            <a:r>
              <a:rPr lang="en-US" sz="1000" dirty="0">
                <a:solidFill>
                  <a:srgbClr val="5B6B75"/>
                </a:solidFill>
                <a:latin typeface="Calibri" panose="020F0502020204030204" pitchFamily="34" charset="0"/>
                <a:ea typeface="Calibri" panose="020F0502020204030204" pitchFamily="34" charset="-122"/>
                <a:cs typeface="Calibri" panose="020F0502020204030204" pitchFamily="34" charset="-120"/>
              </a:rPr>
              <a:t>Boosting tuần tự — sửa lỗi residual</a:t>
            </a:r>
            <a:endParaRPr lang="en-US" sz="1000" dirty="0"/>
          </a:p>
        </p:txBody>
      </p:sp>
      <p:sp>
        <p:nvSpPr>
          <p:cNvPr id="30" name="Shape 23"/>
          <p:cNvSpPr/>
          <p:nvPr/>
        </p:nvSpPr>
        <p:spPr>
          <a:xfrm>
            <a:off x="9619488" y="3703320"/>
            <a:ext cx="1993392" cy="2423160"/>
          </a:xfrm>
          <a:prstGeom prst="roundRect">
            <a:avLst>
              <a:gd name="adj" fmla="val 3211"/>
            </a:avLst>
          </a:prstGeom>
          <a:solidFill>
            <a:srgbClr val="EEF1F3"/>
          </a:solidFill>
        </p:spPr>
      </p:sp>
      <p:sp>
        <p:nvSpPr>
          <p:cNvPr id="31" name="Shape 24"/>
          <p:cNvSpPr/>
          <p:nvPr/>
        </p:nvSpPr>
        <p:spPr>
          <a:xfrm>
            <a:off x="10250424" y="3959352"/>
            <a:ext cx="731520" cy="731520"/>
          </a:xfrm>
          <a:prstGeom prst="ellipse">
            <a:avLst/>
          </a:prstGeom>
          <a:solidFill>
            <a:srgbClr val="C1652F"/>
          </a:solidFill>
        </p:spPr>
      </p:sp>
      <p:pic>
        <p:nvPicPr>
          <p:cNvPr id="32" name="Image 5" descr="icons/brain.png"/>
          <p:cNvPicPr>
            <a:picLocks noChangeAspect="1"/>
          </p:cNvPicPr>
          <p:nvPr/>
        </p:nvPicPr>
        <p:blipFill>
          <a:blip r:embed="rId6"/>
          <a:stretch>
            <a:fillRect/>
          </a:stretch>
        </p:blipFill>
        <p:spPr>
          <a:xfrm>
            <a:off x="10440619" y="4149547"/>
            <a:ext cx="351130" cy="351130"/>
          </a:xfrm>
          <a:prstGeom prst="rect">
            <a:avLst/>
          </a:prstGeom>
        </p:spPr>
      </p:pic>
      <p:sp>
        <p:nvSpPr>
          <p:cNvPr id="33" name="Text 25"/>
          <p:cNvSpPr/>
          <p:nvPr/>
        </p:nvSpPr>
        <p:spPr>
          <a:xfrm>
            <a:off x="9710928" y="4846320"/>
            <a:ext cx="1810512" cy="365760"/>
          </a:xfrm>
          <a:prstGeom prst="rect">
            <a:avLst/>
          </a:prstGeom>
          <a:noFill/>
        </p:spPr>
        <p:txBody>
          <a:bodyPr wrap="square" rtlCol="0" anchor="ctr"/>
          <a:lstStyle/>
          <a:p>
            <a:pPr marL="0" indent="0" algn="ctr">
              <a:buNone/>
            </a:pPr>
            <a:r>
              <a:rPr lang="en-US" sz="1400" b="1" dirty="0">
                <a:solidFill>
                  <a:srgbClr val="15324A"/>
                </a:solidFill>
                <a:latin typeface="Cambria" panose="02040503050406030204" pitchFamily="34" charset="0"/>
                <a:ea typeface="Cambria" panose="02040503050406030204" pitchFamily="34" charset="-122"/>
                <a:cs typeface="Cambria" panose="02040503050406030204" pitchFamily="34" charset="-120"/>
              </a:rPr>
              <a:t>MLP</a:t>
            </a:r>
            <a:endParaRPr lang="en-US" sz="1400" dirty="0"/>
          </a:p>
        </p:txBody>
      </p:sp>
      <p:sp>
        <p:nvSpPr>
          <p:cNvPr id="34" name="Text 26"/>
          <p:cNvSpPr/>
          <p:nvPr/>
        </p:nvSpPr>
        <p:spPr>
          <a:xfrm>
            <a:off x="9756648" y="5212080"/>
            <a:ext cx="1719072" cy="868680"/>
          </a:xfrm>
          <a:prstGeom prst="rect">
            <a:avLst/>
          </a:prstGeom>
          <a:noFill/>
        </p:spPr>
        <p:txBody>
          <a:bodyPr wrap="square" rtlCol="0" anchor="ctr"/>
          <a:lstStyle/>
          <a:p>
            <a:pPr marL="0" indent="0" algn="ctr">
              <a:lnSpc>
                <a:spcPct val="115000"/>
              </a:lnSpc>
              <a:buNone/>
            </a:pPr>
            <a:r>
              <a:rPr lang="en-US" sz="1000" dirty="0">
                <a:solidFill>
                  <a:srgbClr val="5B6B75"/>
                </a:solidFill>
                <a:latin typeface="Calibri" panose="020F0502020204030204" pitchFamily="34" charset="0"/>
                <a:ea typeface="Calibri" panose="020F0502020204030204" pitchFamily="34" charset="-122"/>
                <a:cs typeface="Calibri" panose="020F0502020204030204" pitchFamily="34" charset="-120"/>
              </a:rPr>
              <a:t>Mạng nơ-ron, solver lbfgs, SelectKBest</a:t>
            </a:r>
            <a:endParaRPr lang="en-US" sz="1000" dirty="0"/>
          </a:p>
        </p:txBody>
      </p:sp>
      <p:sp>
        <p:nvSpPr>
          <p:cNvPr id="35" name="Text 27"/>
          <p:cNvSpPr/>
          <p:nvPr/>
        </p:nvSpPr>
        <p:spPr>
          <a:xfrm>
            <a:off x="548640" y="6263640"/>
            <a:ext cx="11064240" cy="365760"/>
          </a:xfrm>
          <a:prstGeom prst="rect">
            <a:avLst/>
          </a:prstGeom>
          <a:noFill/>
        </p:spPr>
        <p:txBody>
          <a:bodyPr wrap="square" rtlCol="0" anchor="ctr"/>
          <a:lstStyle/>
          <a:p>
            <a:pPr marL="0" indent="0">
              <a:buNone/>
            </a:pPr>
            <a:r>
              <a:rPr lang="en-US" sz="1150" i="1" dirty="0">
                <a:solidFill>
                  <a:srgbClr val="5B6B75"/>
                </a:solidFill>
                <a:latin typeface="Calibri" panose="020F0502020204030204" pitchFamily="34" charset="0"/>
                <a:ea typeface="Calibri" panose="020F0502020204030204" pitchFamily="34" charset="-122"/>
                <a:cs typeface="Calibri" panose="020F0502020204030204" pitchFamily="34" charset="-120"/>
              </a:rPr>
              <a:t>Siêu tham số của cả 5 mô hình được tối ưu bằng GridSearchCV — kiểm định chéo 5-Fold (5-Fold Cross Validation).</a:t>
            </a:r>
            <a:endParaRPr lang="en-US" sz="1150" dirty="0"/>
          </a:p>
        </p:txBody>
      </p:sp>
      <p:sp>
        <p:nvSpPr>
          <p:cNvPr id="36" name="Text 28"/>
          <p:cNvSpPr/>
          <p:nvPr/>
        </p:nvSpPr>
        <p:spPr>
          <a:xfrm>
            <a:off x="11521440" y="6473952"/>
            <a:ext cx="457200" cy="274320"/>
          </a:xfrm>
          <a:prstGeom prst="rect">
            <a:avLst/>
          </a:prstGeom>
          <a:noFill/>
        </p:spPr>
        <p:txBody>
          <a:bodyPr wrap="square" rtlCol="0" anchor="ctr"/>
          <a:lstStyle/>
          <a:p>
            <a:pPr marL="0" indent="0" algn="r">
              <a:buNone/>
            </a:pPr>
            <a:r>
              <a:rPr lang="en-US" sz="1000" dirty="0">
                <a:solidFill>
                  <a:srgbClr val="5B6B75"/>
                </a:solidFill>
                <a:latin typeface="Calibri" panose="020F0502020204030204" pitchFamily="34" charset="0"/>
                <a:ea typeface="Calibri" panose="020F0502020204030204" pitchFamily="34" charset="-122"/>
                <a:cs typeface="Calibri" panose="020F0502020204030204"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p:spPr>
        <p:txBody>
          <a:bodyPr wrap="square" rtlCol="0" anchor="ctr"/>
          <a:lstStyle/>
          <a:p>
            <a:pPr marL="0" indent="0">
              <a:buNone/>
            </a:pPr>
            <a:r>
              <a:rPr lang="en-US" sz="1200" b="1" kern="0" spc="200" dirty="0">
                <a:solidFill>
                  <a:srgbClr val="C1652F"/>
                </a:solidFill>
                <a:latin typeface="Calibri" panose="020F0502020204030204" pitchFamily="34" charset="0"/>
                <a:ea typeface="Calibri" panose="020F0502020204030204" pitchFamily="34" charset="-122"/>
                <a:cs typeface="Calibri" panose="020F0502020204030204" pitchFamily="34" charset="-120"/>
              </a:rPr>
              <a:t>THỰC NGHIỆM</a:t>
            </a:r>
            <a:endParaRPr lang="en-US" sz="1200" dirty="0"/>
          </a:p>
        </p:txBody>
      </p:sp>
      <p:sp>
        <p:nvSpPr>
          <p:cNvPr id="3" name="Text 1"/>
          <p:cNvSpPr/>
          <p:nvPr/>
        </p:nvSpPr>
        <p:spPr>
          <a:xfrm>
            <a:off x="548640" y="685800"/>
            <a:ext cx="10972800" cy="731520"/>
          </a:xfrm>
          <a:prstGeom prst="rect">
            <a:avLst/>
          </a:prstGeom>
          <a:noFill/>
        </p:spPr>
        <p:txBody>
          <a:bodyPr wrap="square" rtlCol="0" anchor="ctr"/>
          <a:lstStyle/>
          <a:p>
            <a:pPr marL="0" indent="0">
              <a:buNone/>
            </a:pPr>
            <a:r>
              <a:rPr lang="en-US" sz="3200" b="1" dirty="0">
                <a:solidFill>
                  <a:srgbClr val="15324A"/>
                </a:solidFill>
                <a:latin typeface="Cambria" panose="02040503050406030204" pitchFamily="34" charset="0"/>
                <a:ea typeface="Cambria" panose="02040503050406030204" pitchFamily="34" charset="-122"/>
                <a:cs typeface="Cambria" panose="02040503050406030204" pitchFamily="34" charset="-120"/>
              </a:rPr>
              <a:t>Dữ liệu &amp; Tiền xử lý</a:t>
            </a:r>
            <a:endParaRPr lang="en-US" sz="3200" dirty="0"/>
          </a:p>
        </p:txBody>
      </p:sp>
      <p:sp>
        <p:nvSpPr>
          <p:cNvPr id="4" name="Shape 2"/>
          <p:cNvSpPr/>
          <p:nvPr/>
        </p:nvSpPr>
        <p:spPr>
          <a:xfrm>
            <a:off x="548640" y="1691640"/>
            <a:ext cx="4114800" cy="4480560"/>
          </a:xfrm>
          <a:prstGeom prst="roundRect">
            <a:avLst>
              <a:gd name="adj" fmla="val 1778"/>
            </a:avLst>
          </a:prstGeom>
          <a:solidFill>
            <a:srgbClr val="15324A"/>
          </a:solidFill>
        </p:spPr>
      </p:sp>
      <p:sp>
        <p:nvSpPr>
          <p:cNvPr id="5" name="Shape 3"/>
          <p:cNvSpPr/>
          <p:nvPr/>
        </p:nvSpPr>
        <p:spPr>
          <a:xfrm>
            <a:off x="868680" y="1965960"/>
            <a:ext cx="777240" cy="777240"/>
          </a:xfrm>
          <a:prstGeom prst="ellipse">
            <a:avLst/>
          </a:prstGeom>
          <a:solidFill>
            <a:srgbClr val="C1652F"/>
          </a:solidFill>
        </p:spPr>
      </p:sp>
      <p:pic>
        <p:nvPicPr>
          <p:cNvPr id="6" name="Image 0" descr="icons/database.png"/>
          <p:cNvPicPr>
            <a:picLocks noChangeAspect="1"/>
          </p:cNvPicPr>
          <p:nvPr/>
        </p:nvPicPr>
        <p:blipFill>
          <a:blip r:embed="rId2"/>
          <a:stretch>
            <a:fillRect/>
          </a:stretch>
        </p:blipFill>
        <p:spPr>
          <a:xfrm>
            <a:off x="1070762" y="2168042"/>
            <a:ext cx="373075" cy="373075"/>
          </a:xfrm>
          <a:prstGeom prst="rect">
            <a:avLst/>
          </a:prstGeom>
        </p:spPr>
      </p:pic>
      <p:sp>
        <p:nvSpPr>
          <p:cNvPr id="7" name="Text 4"/>
          <p:cNvSpPr/>
          <p:nvPr/>
        </p:nvSpPr>
        <p:spPr>
          <a:xfrm>
            <a:off x="548640" y="2880360"/>
            <a:ext cx="3749040" cy="365760"/>
          </a:xfrm>
          <a:prstGeom prst="rect">
            <a:avLst/>
          </a:prstGeom>
          <a:noFill/>
        </p:spPr>
        <p:txBody>
          <a:bodyPr wrap="square" rtlCol="0" anchor="ctr"/>
          <a:lstStyle/>
          <a:p>
            <a:pPr marL="0" indent="0" algn="ctr">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Dataset: Ames Housing</a:t>
            </a:r>
            <a:endParaRPr lang="en-US" sz="1700" dirty="0"/>
          </a:p>
        </p:txBody>
      </p:sp>
      <p:sp>
        <p:nvSpPr>
          <p:cNvPr id="8" name="Text 5"/>
          <p:cNvSpPr/>
          <p:nvPr/>
        </p:nvSpPr>
        <p:spPr>
          <a:xfrm>
            <a:off x="685800" y="3246120"/>
            <a:ext cx="3566160" cy="457200"/>
          </a:xfrm>
          <a:prstGeom prst="rect">
            <a:avLst/>
          </a:prstGeom>
          <a:noFill/>
        </p:spPr>
        <p:txBody>
          <a:bodyPr wrap="square" rtlCol="0" anchor="ctr"/>
          <a:lstStyle/>
          <a:p>
            <a:pPr marL="0" indent="0" algn="ctr">
              <a:buNone/>
            </a:pPr>
            <a:r>
              <a:rPr lang="en-US" sz="1050" i="1" dirty="0">
                <a:solidFill>
                  <a:srgbClr val="AFC2CC"/>
                </a:solidFill>
                <a:latin typeface="Calibri" panose="020F0502020204030204" pitchFamily="34" charset="0"/>
                <a:ea typeface="Calibri" panose="020F0502020204030204" pitchFamily="34" charset="-122"/>
                <a:cs typeface="Calibri" panose="020F0502020204030204" pitchFamily="34" charset="-120"/>
              </a:rPr>
              <a:t>(Kaggle — House Prices: Advanced Regression Techniques)</a:t>
            </a:r>
            <a:endParaRPr lang="en-US" sz="1050" dirty="0"/>
          </a:p>
        </p:txBody>
      </p:sp>
      <p:sp>
        <p:nvSpPr>
          <p:cNvPr id="9" name="Text 6"/>
          <p:cNvSpPr/>
          <p:nvPr/>
        </p:nvSpPr>
        <p:spPr>
          <a:xfrm>
            <a:off x="822960" y="3931920"/>
            <a:ext cx="1188720" cy="502920"/>
          </a:xfrm>
          <a:prstGeom prst="rect">
            <a:avLst/>
          </a:prstGeom>
          <a:noFill/>
        </p:spPr>
        <p:txBody>
          <a:bodyPr wrap="square" rtlCol="0" anchor="ctr"/>
          <a:lstStyle/>
          <a:p>
            <a:pPr marL="0" indent="0" algn="ctr">
              <a:buNone/>
            </a:pPr>
            <a:r>
              <a:rPr lang="en-US" sz="2600" b="1" dirty="0">
                <a:solidFill>
                  <a:srgbClr val="E8A874"/>
                </a:solidFill>
                <a:latin typeface="Cambria" panose="02040503050406030204" pitchFamily="34" charset="0"/>
                <a:ea typeface="Cambria" panose="02040503050406030204" pitchFamily="34" charset="-122"/>
                <a:cs typeface="Cambria" panose="02040503050406030204" pitchFamily="34" charset="-120"/>
              </a:rPr>
              <a:t>1.460</a:t>
            </a:r>
            <a:endParaRPr lang="en-US" sz="2600" dirty="0"/>
          </a:p>
        </p:txBody>
      </p:sp>
      <p:sp>
        <p:nvSpPr>
          <p:cNvPr id="10" name="Text 7"/>
          <p:cNvSpPr/>
          <p:nvPr/>
        </p:nvSpPr>
        <p:spPr>
          <a:xfrm>
            <a:off x="2103120" y="4005072"/>
            <a:ext cx="2377440" cy="457200"/>
          </a:xfrm>
          <a:prstGeom prst="rect">
            <a:avLst/>
          </a:prstGeom>
          <a:noFill/>
        </p:spPr>
        <p:txBody>
          <a:bodyPr wrap="square" rtlCol="0" anchor="ctr"/>
          <a:lstStyle/>
          <a:p>
            <a:pPr marL="0" indent="0">
              <a:buNone/>
            </a:pPr>
            <a:r>
              <a:rPr lang="en-US" sz="1150" dirty="0">
                <a:solidFill>
                  <a:srgbClr val="DCE6EB"/>
                </a:solidFill>
                <a:latin typeface="Calibri" panose="020F0502020204030204" pitchFamily="34" charset="0"/>
                <a:ea typeface="Calibri" panose="020F0502020204030204" pitchFamily="34" charset="-122"/>
                <a:cs typeface="Calibri" panose="020F0502020204030204" pitchFamily="34" charset="-120"/>
              </a:rPr>
              <a:t>mẫu nhà (train.csv)</a:t>
            </a:r>
            <a:endParaRPr lang="en-US" sz="1150" dirty="0"/>
          </a:p>
        </p:txBody>
      </p:sp>
      <p:sp>
        <p:nvSpPr>
          <p:cNvPr id="11" name="Text 8"/>
          <p:cNvSpPr/>
          <p:nvPr/>
        </p:nvSpPr>
        <p:spPr>
          <a:xfrm>
            <a:off x="822960" y="4617720"/>
            <a:ext cx="1188720" cy="502920"/>
          </a:xfrm>
          <a:prstGeom prst="rect">
            <a:avLst/>
          </a:prstGeom>
          <a:noFill/>
        </p:spPr>
        <p:txBody>
          <a:bodyPr wrap="square" rtlCol="0" anchor="ctr"/>
          <a:lstStyle/>
          <a:p>
            <a:pPr marL="0" indent="0" algn="ctr">
              <a:buNone/>
            </a:pPr>
            <a:r>
              <a:rPr lang="en-US" sz="2600" b="1" dirty="0">
                <a:solidFill>
                  <a:srgbClr val="E8A874"/>
                </a:solidFill>
                <a:latin typeface="Cambria" panose="02040503050406030204" pitchFamily="34" charset="0"/>
                <a:ea typeface="Cambria" panose="02040503050406030204" pitchFamily="34" charset="-122"/>
                <a:cs typeface="Cambria" panose="02040503050406030204" pitchFamily="34" charset="-120"/>
              </a:rPr>
              <a:t>79</a:t>
            </a:r>
            <a:endParaRPr lang="en-US" sz="2600" dirty="0"/>
          </a:p>
        </p:txBody>
      </p:sp>
      <p:sp>
        <p:nvSpPr>
          <p:cNvPr id="12" name="Text 9"/>
          <p:cNvSpPr/>
          <p:nvPr/>
        </p:nvSpPr>
        <p:spPr>
          <a:xfrm>
            <a:off x="2103120" y="4690872"/>
            <a:ext cx="2377440" cy="457200"/>
          </a:xfrm>
          <a:prstGeom prst="rect">
            <a:avLst/>
          </a:prstGeom>
          <a:noFill/>
        </p:spPr>
        <p:txBody>
          <a:bodyPr wrap="square" rtlCol="0" anchor="ctr"/>
          <a:lstStyle/>
          <a:p>
            <a:pPr marL="0" indent="0">
              <a:buNone/>
            </a:pPr>
            <a:r>
              <a:rPr lang="en-US" sz="1150" dirty="0">
                <a:solidFill>
                  <a:srgbClr val="DCE6EB"/>
                </a:solidFill>
                <a:latin typeface="Calibri" panose="020F0502020204030204" pitchFamily="34" charset="0"/>
                <a:ea typeface="Calibri" panose="020F0502020204030204" pitchFamily="34" charset="-122"/>
                <a:cs typeface="Calibri" panose="020F0502020204030204" pitchFamily="34" charset="-120"/>
              </a:rPr>
              <a:t>thuộc tính giải thích</a:t>
            </a:r>
            <a:endParaRPr lang="en-US" sz="1150" dirty="0"/>
          </a:p>
        </p:txBody>
      </p:sp>
      <p:sp>
        <p:nvSpPr>
          <p:cNvPr id="13" name="Text 10"/>
          <p:cNvSpPr/>
          <p:nvPr/>
        </p:nvSpPr>
        <p:spPr>
          <a:xfrm>
            <a:off x="822960" y="5303520"/>
            <a:ext cx="1188720" cy="502920"/>
          </a:xfrm>
          <a:prstGeom prst="rect">
            <a:avLst/>
          </a:prstGeom>
          <a:noFill/>
        </p:spPr>
        <p:txBody>
          <a:bodyPr wrap="square" rtlCol="0" anchor="ctr"/>
          <a:lstStyle/>
          <a:p>
            <a:pPr marL="0" indent="0" algn="ctr">
              <a:buNone/>
            </a:pPr>
            <a:r>
              <a:rPr lang="en-US" sz="2600" b="1" dirty="0">
                <a:solidFill>
                  <a:srgbClr val="E8A874"/>
                </a:solidFill>
                <a:latin typeface="Cambria" panose="02040503050406030204" pitchFamily="34" charset="0"/>
                <a:ea typeface="Cambria" panose="02040503050406030204" pitchFamily="34" charset="-122"/>
                <a:cs typeface="Cambria" panose="02040503050406030204" pitchFamily="34" charset="-120"/>
              </a:rPr>
              <a:t>1</a:t>
            </a:r>
            <a:endParaRPr lang="en-US" sz="2600" dirty="0"/>
          </a:p>
        </p:txBody>
      </p:sp>
      <p:sp>
        <p:nvSpPr>
          <p:cNvPr id="14" name="Text 11"/>
          <p:cNvSpPr/>
          <p:nvPr/>
        </p:nvSpPr>
        <p:spPr>
          <a:xfrm>
            <a:off x="2103120" y="5376672"/>
            <a:ext cx="2377440" cy="457200"/>
          </a:xfrm>
          <a:prstGeom prst="rect">
            <a:avLst/>
          </a:prstGeom>
          <a:noFill/>
        </p:spPr>
        <p:txBody>
          <a:bodyPr wrap="square" rtlCol="0" anchor="ctr"/>
          <a:lstStyle/>
          <a:p>
            <a:pPr marL="0" indent="0">
              <a:buNone/>
            </a:pPr>
            <a:r>
              <a:rPr lang="en-US" sz="1150" dirty="0">
                <a:solidFill>
                  <a:srgbClr val="DCE6EB"/>
                </a:solidFill>
                <a:latin typeface="Calibri" panose="020F0502020204030204" pitchFamily="34" charset="0"/>
                <a:ea typeface="Calibri" panose="020F0502020204030204" pitchFamily="34" charset="-122"/>
                <a:cs typeface="Calibri" panose="020F0502020204030204" pitchFamily="34" charset="-120"/>
              </a:rPr>
              <a:t>biến mục tiêu: SalePrice</a:t>
            </a:r>
            <a:endParaRPr lang="en-US" sz="1150" dirty="0"/>
          </a:p>
        </p:txBody>
      </p:sp>
      <p:sp>
        <p:nvSpPr>
          <p:cNvPr id="15" name="Shape 12"/>
          <p:cNvSpPr/>
          <p:nvPr/>
        </p:nvSpPr>
        <p:spPr>
          <a:xfrm>
            <a:off x="868680" y="6035040"/>
            <a:ext cx="3474720" cy="18288"/>
          </a:xfrm>
          <a:prstGeom prst="rect">
            <a:avLst/>
          </a:prstGeom>
          <a:solidFill>
            <a:srgbClr val="1F4763"/>
          </a:solidFill>
        </p:spPr>
      </p:sp>
      <p:sp>
        <p:nvSpPr>
          <p:cNvPr id="16" name="Text 13"/>
          <p:cNvSpPr/>
          <p:nvPr/>
        </p:nvSpPr>
        <p:spPr>
          <a:xfrm>
            <a:off x="868680" y="6126480"/>
            <a:ext cx="3474720" cy="502920"/>
          </a:xfrm>
          <a:prstGeom prst="rect">
            <a:avLst/>
          </a:prstGeom>
          <a:noFill/>
        </p:spPr>
        <p:txBody>
          <a:bodyPr wrap="square" rtlCol="0" anchor="ctr"/>
          <a:lstStyle/>
          <a:p>
            <a:pPr marL="0" indent="0">
              <a:buNone/>
            </a:pPr>
            <a:r>
              <a:rPr lang="en-US" sz="1000" i="1" dirty="0">
                <a:solidFill>
                  <a:schemeClr val="tx1">
                    <a:lumMod val="75000"/>
                    <a:lumOff val="25000"/>
                  </a:schemeClr>
                </a:solidFill>
                <a:latin typeface="Calibri" panose="020F0502020204030204" pitchFamily="34" charset="0"/>
                <a:ea typeface="Calibri" panose="020F0502020204030204" pitchFamily="34" charset="-122"/>
                <a:cs typeface="Calibri" panose="020F0502020204030204" pitchFamily="34" charset="-120"/>
              </a:rPr>
              <a:t>Đặc trưng vật lý (GrLivArea, TotalBsmtSF...) &amp; định tính (Neighborhood, HouseStyle...)</a:t>
            </a:r>
            <a:endParaRPr lang="en-US" sz="1000" i="1" dirty="0">
              <a:solidFill>
                <a:schemeClr val="tx1">
                  <a:lumMod val="75000"/>
                  <a:lumOff val="2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4"/>
          <p:cNvSpPr/>
          <p:nvPr/>
        </p:nvSpPr>
        <p:spPr>
          <a:xfrm>
            <a:off x="4937760" y="1691640"/>
            <a:ext cx="6675120" cy="274320"/>
          </a:xfrm>
          <a:prstGeom prst="rect">
            <a:avLst/>
          </a:prstGeom>
          <a:noFill/>
        </p:spPr>
        <p:txBody>
          <a:bodyPr wrap="square" rtlCol="0" anchor="ctr"/>
          <a:lstStyle/>
          <a:p>
            <a:pPr marL="0" indent="0">
              <a:buNone/>
            </a:pPr>
            <a:r>
              <a:rPr lang="en-US" sz="1300" b="1" dirty="0">
                <a:solidFill>
                  <a:srgbClr val="C1652F"/>
                </a:solidFill>
                <a:latin typeface="Calibri" panose="020F0502020204030204" pitchFamily="34" charset="0"/>
                <a:ea typeface="Calibri" panose="020F0502020204030204" pitchFamily="34" charset="-122"/>
                <a:cs typeface="Calibri" panose="020F0502020204030204" pitchFamily="34" charset="-120"/>
              </a:rPr>
              <a:t>QUY TRÌNH TIỀN XỬ LÝ (6 BƯỚC)</a:t>
            </a:r>
            <a:endParaRPr lang="en-US" sz="1300" dirty="0"/>
          </a:p>
        </p:txBody>
      </p:sp>
      <p:sp>
        <p:nvSpPr>
          <p:cNvPr id="18" name="Shape 15"/>
          <p:cNvSpPr/>
          <p:nvPr/>
        </p:nvSpPr>
        <p:spPr>
          <a:xfrm>
            <a:off x="4937760" y="2057400"/>
            <a:ext cx="384048" cy="384048"/>
          </a:xfrm>
          <a:prstGeom prst="ellipse">
            <a:avLst/>
          </a:prstGeom>
          <a:solidFill>
            <a:srgbClr val="15324A"/>
          </a:solidFill>
        </p:spPr>
      </p:sp>
      <p:sp>
        <p:nvSpPr>
          <p:cNvPr id="19" name="Text 16"/>
          <p:cNvSpPr/>
          <p:nvPr/>
        </p:nvSpPr>
        <p:spPr>
          <a:xfrm>
            <a:off x="4937760" y="2057400"/>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20" name="Text 17"/>
          <p:cNvSpPr/>
          <p:nvPr/>
        </p:nvSpPr>
        <p:spPr>
          <a:xfrm>
            <a:off x="5486400" y="2029968"/>
            <a:ext cx="6126480" cy="457200"/>
          </a:xfrm>
          <a:prstGeom prst="rect">
            <a:avLst/>
          </a:prstGeom>
          <a:noFill/>
        </p:spPr>
        <p:txBody>
          <a:bodyPr wrap="square" rtlCol="0" anchor="ctr"/>
          <a:lstStyle/>
          <a:p>
            <a:pPr marL="0" indent="0">
              <a:lnSpc>
                <a:spcPct val="110000"/>
              </a:lnSpc>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Loại bỏ 2 outlier hình học (GrLivArea &gt; 4.000 sqft &amp; SalePrice &lt; 300.000 USD)</a:t>
            </a:r>
            <a:endParaRPr lang="en-US" sz="1250" dirty="0"/>
          </a:p>
        </p:txBody>
      </p:sp>
      <p:sp>
        <p:nvSpPr>
          <p:cNvPr id="21" name="Shape 18"/>
          <p:cNvSpPr/>
          <p:nvPr/>
        </p:nvSpPr>
        <p:spPr>
          <a:xfrm>
            <a:off x="4937760" y="2624328"/>
            <a:ext cx="384048" cy="384048"/>
          </a:xfrm>
          <a:prstGeom prst="ellipse">
            <a:avLst/>
          </a:prstGeom>
          <a:solidFill>
            <a:srgbClr val="C1652F"/>
          </a:solidFill>
        </p:spPr>
      </p:sp>
      <p:sp>
        <p:nvSpPr>
          <p:cNvPr id="22" name="Text 19"/>
          <p:cNvSpPr/>
          <p:nvPr/>
        </p:nvSpPr>
        <p:spPr>
          <a:xfrm>
            <a:off x="4937760" y="2624328"/>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23" name="Text 20"/>
          <p:cNvSpPr/>
          <p:nvPr/>
        </p:nvSpPr>
        <p:spPr>
          <a:xfrm>
            <a:off x="5486400" y="2596896"/>
            <a:ext cx="6126480" cy="457200"/>
          </a:xfrm>
          <a:prstGeom prst="rect">
            <a:avLst/>
          </a:prstGeom>
          <a:noFill/>
        </p:spPr>
        <p:txBody>
          <a:bodyPr wrap="square" rtlCol="0" anchor="ctr"/>
          <a:lstStyle/>
          <a:p>
            <a:pPr marL="0" indent="0">
              <a:lnSpc>
                <a:spcPct val="110000"/>
              </a:lnSpc>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Xây dựng siêu đặc trưng: TotalSF, TotalBath, HouseAge, RemodAge, TotalQual</a:t>
            </a:r>
            <a:endParaRPr lang="en-US" sz="1250" dirty="0"/>
          </a:p>
        </p:txBody>
      </p:sp>
      <p:sp>
        <p:nvSpPr>
          <p:cNvPr id="24" name="Shape 21"/>
          <p:cNvSpPr/>
          <p:nvPr/>
        </p:nvSpPr>
        <p:spPr>
          <a:xfrm>
            <a:off x="4937760" y="3191256"/>
            <a:ext cx="384048" cy="384048"/>
          </a:xfrm>
          <a:prstGeom prst="ellipse">
            <a:avLst/>
          </a:prstGeom>
          <a:solidFill>
            <a:srgbClr val="15324A"/>
          </a:solidFill>
        </p:spPr>
      </p:sp>
      <p:sp>
        <p:nvSpPr>
          <p:cNvPr id="25" name="Text 22"/>
          <p:cNvSpPr/>
          <p:nvPr/>
        </p:nvSpPr>
        <p:spPr>
          <a:xfrm>
            <a:off x="4937760" y="3191256"/>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26" name="Text 23"/>
          <p:cNvSpPr/>
          <p:nvPr/>
        </p:nvSpPr>
        <p:spPr>
          <a:xfrm>
            <a:off x="5486400" y="3163824"/>
            <a:ext cx="6126480" cy="457200"/>
          </a:xfrm>
          <a:prstGeom prst="rect">
            <a:avLst/>
          </a:prstGeom>
          <a:noFill/>
        </p:spPr>
        <p:txBody>
          <a:bodyPr wrap="square" rtlCol="0" anchor="ctr"/>
          <a:lstStyle/>
          <a:p>
            <a:pPr marL="0" indent="0">
              <a:lnSpc>
                <a:spcPct val="110000"/>
              </a:lnSpc>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Tách biến mục tiêu, biến đổi y = log1p(SalePrice); loại cột “Id”</a:t>
            </a:r>
            <a:endParaRPr lang="en-US" sz="1250" dirty="0"/>
          </a:p>
        </p:txBody>
      </p:sp>
      <p:sp>
        <p:nvSpPr>
          <p:cNvPr id="27" name="Shape 24"/>
          <p:cNvSpPr/>
          <p:nvPr/>
        </p:nvSpPr>
        <p:spPr>
          <a:xfrm>
            <a:off x="4937760" y="3758184"/>
            <a:ext cx="384048" cy="384048"/>
          </a:xfrm>
          <a:prstGeom prst="ellipse">
            <a:avLst/>
          </a:prstGeom>
          <a:solidFill>
            <a:srgbClr val="C1652F"/>
          </a:solidFill>
        </p:spPr>
      </p:sp>
      <p:sp>
        <p:nvSpPr>
          <p:cNvPr id="28" name="Text 25"/>
          <p:cNvSpPr/>
          <p:nvPr/>
        </p:nvSpPr>
        <p:spPr>
          <a:xfrm>
            <a:off x="4937760" y="3758184"/>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29" name="Text 26"/>
          <p:cNvSpPr/>
          <p:nvPr/>
        </p:nvSpPr>
        <p:spPr>
          <a:xfrm>
            <a:off x="5486400" y="3730752"/>
            <a:ext cx="6126480" cy="457200"/>
          </a:xfrm>
          <a:prstGeom prst="rect">
            <a:avLst/>
          </a:prstGeom>
          <a:noFill/>
        </p:spPr>
        <p:txBody>
          <a:bodyPr wrap="square" rtlCol="0" anchor="ctr"/>
          <a:lstStyle/>
          <a:p>
            <a:pPr marL="0" indent="0">
              <a:lnSpc>
                <a:spcPct val="110000"/>
              </a:lnSpc>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Điền khuyết: trung vị (biến số) · nhãn “None” (biến phân loại)</a:t>
            </a:r>
            <a:endParaRPr lang="en-US" sz="1250" dirty="0"/>
          </a:p>
        </p:txBody>
      </p:sp>
      <p:sp>
        <p:nvSpPr>
          <p:cNvPr id="30" name="Shape 27"/>
          <p:cNvSpPr/>
          <p:nvPr/>
        </p:nvSpPr>
        <p:spPr>
          <a:xfrm>
            <a:off x="4937760" y="4325112"/>
            <a:ext cx="384048" cy="384048"/>
          </a:xfrm>
          <a:prstGeom prst="ellipse">
            <a:avLst/>
          </a:prstGeom>
          <a:solidFill>
            <a:srgbClr val="15324A"/>
          </a:solidFill>
        </p:spPr>
      </p:sp>
      <p:sp>
        <p:nvSpPr>
          <p:cNvPr id="31" name="Text 28"/>
          <p:cNvSpPr/>
          <p:nvPr/>
        </p:nvSpPr>
        <p:spPr>
          <a:xfrm>
            <a:off x="4937760" y="4325112"/>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300" dirty="0"/>
          </a:p>
        </p:txBody>
      </p:sp>
      <p:sp>
        <p:nvSpPr>
          <p:cNvPr id="32" name="Text 29"/>
          <p:cNvSpPr/>
          <p:nvPr/>
        </p:nvSpPr>
        <p:spPr>
          <a:xfrm>
            <a:off x="5486400" y="4297680"/>
            <a:ext cx="6126480" cy="457200"/>
          </a:xfrm>
          <a:prstGeom prst="rect">
            <a:avLst/>
          </a:prstGeom>
          <a:noFill/>
        </p:spPr>
        <p:txBody>
          <a:bodyPr wrap="square" rtlCol="0" anchor="ctr"/>
          <a:lstStyle/>
          <a:p>
            <a:pPr marL="0" indent="0">
              <a:lnSpc>
                <a:spcPct val="110000"/>
              </a:lnSpc>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Mã hóa One-Hot Encoding toàn bộ biến phân loại (pd.get_dummies)</a:t>
            </a:r>
            <a:endParaRPr lang="en-US" sz="1250" dirty="0"/>
          </a:p>
        </p:txBody>
      </p:sp>
      <p:sp>
        <p:nvSpPr>
          <p:cNvPr id="33" name="Shape 30"/>
          <p:cNvSpPr/>
          <p:nvPr/>
        </p:nvSpPr>
        <p:spPr>
          <a:xfrm>
            <a:off x="4937760" y="4892040"/>
            <a:ext cx="384048" cy="384048"/>
          </a:xfrm>
          <a:prstGeom prst="ellipse">
            <a:avLst/>
          </a:prstGeom>
          <a:solidFill>
            <a:srgbClr val="C1652F"/>
          </a:solidFill>
        </p:spPr>
      </p:sp>
      <p:sp>
        <p:nvSpPr>
          <p:cNvPr id="34" name="Text 31"/>
          <p:cNvSpPr/>
          <p:nvPr/>
        </p:nvSpPr>
        <p:spPr>
          <a:xfrm>
            <a:off x="4937760" y="4892040"/>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300" dirty="0"/>
          </a:p>
        </p:txBody>
      </p:sp>
      <p:sp>
        <p:nvSpPr>
          <p:cNvPr id="35" name="Text 32"/>
          <p:cNvSpPr/>
          <p:nvPr/>
        </p:nvSpPr>
        <p:spPr>
          <a:xfrm>
            <a:off x="5486400" y="4864608"/>
            <a:ext cx="6126480" cy="457200"/>
          </a:xfrm>
          <a:prstGeom prst="rect">
            <a:avLst/>
          </a:prstGeom>
          <a:noFill/>
        </p:spPr>
        <p:txBody>
          <a:bodyPr wrap="square" rtlCol="0" anchor="ctr"/>
          <a:lstStyle/>
          <a:p>
            <a:pPr marL="0" indent="0">
              <a:lnSpc>
                <a:spcPct val="110000"/>
              </a:lnSpc>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Chuẩn hóa StandardScaler — fit trên train, transform trên test</a:t>
            </a:r>
            <a:endParaRPr lang="en-US" sz="1250" dirty="0"/>
          </a:p>
        </p:txBody>
      </p:sp>
      <p:sp>
        <p:nvSpPr>
          <p:cNvPr id="36" name="Text 33"/>
          <p:cNvSpPr/>
          <p:nvPr/>
        </p:nvSpPr>
        <p:spPr>
          <a:xfrm>
            <a:off x="4937760" y="5431028"/>
            <a:ext cx="3657600" cy="274320"/>
          </a:xfrm>
          <a:prstGeom prst="rect">
            <a:avLst/>
          </a:prstGeom>
          <a:noFill/>
        </p:spPr>
        <p:txBody>
          <a:bodyPr wrap="square" rtlCol="0" anchor="ctr"/>
          <a:lstStyle/>
          <a:p>
            <a:pPr marL="0" indent="0">
              <a:buNone/>
            </a:pPr>
            <a:r>
              <a:rPr lang="en-US" sz="1200" b="1" dirty="0">
                <a:solidFill>
                  <a:srgbClr val="C1652F"/>
                </a:solidFill>
                <a:latin typeface="Calibri" panose="020F0502020204030204" pitchFamily="34" charset="0"/>
                <a:ea typeface="Calibri" panose="020F0502020204030204" pitchFamily="34" charset="-122"/>
                <a:cs typeface="Calibri" panose="020F0502020204030204" pitchFamily="34" charset="-120"/>
              </a:rPr>
              <a:t>PHÂN CHIA TRAIN / TEST</a:t>
            </a:r>
            <a:endParaRPr lang="en-US" sz="1200" dirty="0"/>
          </a:p>
        </p:txBody>
      </p:sp>
      <p:graphicFrame>
        <p:nvGraphicFramePr>
          <p:cNvPr id="37" name="Chart 0"/>
          <p:cNvGraphicFramePr/>
          <p:nvPr/>
        </p:nvGraphicFramePr>
        <p:xfrm>
          <a:off x="4937760" y="5669153"/>
          <a:ext cx="2103120" cy="1417320"/>
        </p:xfrm>
        <a:graphic>
          <a:graphicData uri="http://schemas.openxmlformats.org/drawingml/2006/chart">
            <c:chart xmlns:c="http://schemas.openxmlformats.org/drawingml/2006/chart" xmlns:r="http://schemas.openxmlformats.org/officeDocument/2006/relationships" r:id="rId1"/>
          </a:graphicData>
        </a:graphic>
      </p:graphicFrame>
      <p:sp>
        <p:nvSpPr>
          <p:cNvPr id="38" name="Text 34"/>
          <p:cNvSpPr/>
          <p:nvPr/>
        </p:nvSpPr>
        <p:spPr>
          <a:xfrm>
            <a:off x="7178040" y="5577713"/>
            <a:ext cx="2743200" cy="1280160"/>
          </a:xfrm>
          <a:prstGeom prst="rect">
            <a:avLst/>
          </a:prstGeom>
          <a:noFill/>
        </p:spPr>
        <p:txBody>
          <a:bodyPr wrap="square" rtlCol="0" anchor="ctr"/>
          <a:lstStyle/>
          <a:p>
            <a:pPr marL="0" indent="0">
              <a:lnSpc>
                <a:spcPct val="120000"/>
              </a:lnSpc>
              <a:buNone/>
            </a:pPr>
            <a:r>
              <a:rPr lang="en-US" sz="1250" b="1" dirty="0">
                <a:solidFill>
                  <a:srgbClr val="15324A"/>
                </a:solidFill>
                <a:latin typeface="Calibri" panose="020F0502020204030204" pitchFamily="34" charset="0"/>
                <a:ea typeface="Calibri" panose="020F0502020204030204" pitchFamily="34" charset="-122"/>
                <a:cs typeface="Calibri" panose="020F0502020204030204" pitchFamily="34" charset="-120"/>
              </a:rPr>
              <a:t>Train: </a:t>
            </a:r>
            <a:endParaRPr lang="en-US" sz="1250" dirty="0"/>
          </a:p>
          <a:p>
            <a:pPr marL="0" indent="0">
              <a:lnSpc>
                <a:spcPct val="120000"/>
              </a:lnSpc>
              <a:buNone/>
            </a:pPr>
            <a:r>
              <a:rPr lang="en-US" sz="1250" dirty="0">
                <a:solidFill>
                  <a:srgbClr val="5B6B75"/>
                </a:solidFill>
                <a:latin typeface="Calibri" panose="020F0502020204030204" pitchFamily="34" charset="0"/>
                <a:ea typeface="Calibri" panose="020F0502020204030204" pitchFamily="34" charset="-122"/>
                <a:cs typeface="Calibri" panose="020F0502020204030204" pitchFamily="34" charset="-120"/>
              </a:rPr>
              <a:t>~1.020 mẫu (70%)</a:t>
            </a:r>
            <a:endParaRPr lang="en-US" sz="1250" dirty="0"/>
          </a:p>
          <a:p>
            <a:pPr marL="0" indent="0">
              <a:lnSpc>
                <a:spcPct val="120000"/>
              </a:lnSpc>
              <a:buNone/>
            </a:pPr>
            <a:r>
              <a:rPr lang="en-US" sz="1250" b="1" dirty="0">
                <a:solidFill>
                  <a:srgbClr val="C1652F"/>
                </a:solidFill>
                <a:latin typeface="Calibri" panose="020F0502020204030204" pitchFamily="34" charset="0"/>
                <a:ea typeface="Calibri" panose="020F0502020204030204" pitchFamily="34" charset="-122"/>
                <a:cs typeface="Calibri" panose="020F0502020204030204" pitchFamily="34" charset="-120"/>
              </a:rPr>
              <a:t>Test: </a:t>
            </a:r>
            <a:endParaRPr lang="en-US" sz="1250" dirty="0"/>
          </a:p>
          <a:p>
            <a:pPr marL="0" indent="0">
              <a:lnSpc>
                <a:spcPct val="120000"/>
              </a:lnSpc>
              <a:buNone/>
            </a:pPr>
            <a:r>
              <a:rPr lang="en-US" sz="1250" dirty="0">
                <a:solidFill>
                  <a:srgbClr val="5B6B75"/>
                </a:solidFill>
                <a:latin typeface="Calibri" panose="020F0502020204030204" pitchFamily="34" charset="0"/>
                <a:ea typeface="Calibri" panose="020F0502020204030204" pitchFamily="34" charset="-122"/>
                <a:cs typeface="Calibri" panose="020F0502020204030204" pitchFamily="34" charset="-120"/>
              </a:rPr>
              <a:t>~438 mẫu (30%)</a:t>
            </a:r>
            <a:endParaRPr lang="en-US" sz="1250" dirty="0"/>
          </a:p>
        </p:txBody>
      </p:sp>
      <p:sp>
        <p:nvSpPr>
          <p:cNvPr id="39" name="Text 35"/>
          <p:cNvSpPr/>
          <p:nvPr/>
        </p:nvSpPr>
        <p:spPr>
          <a:xfrm>
            <a:off x="11521440" y="6473952"/>
            <a:ext cx="457200" cy="274320"/>
          </a:xfrm>
          <a:prstGeom prst="rect">
            <a:avLst/>
          </a:prstGeom>
          <a:noFill/>
        </p:spPr>
        <p:txBody>
          <a:bodyPr wrap="square" rtlCol="0" anchor="ctr"/>
          <a:lstStyle/>
          <a:p>
            <a:pPr marL="0" indent="0" algn="r">
              <a:buNone/>
            </a:pPr>
            <a:r>
              <a:rPr lang="en-US" sz="1000" dirty="0">
                <a:solidFill>
                  <a:srgbClr val="5B6B75"/>
                </a:solidFill>
                <a:latin typeface="Calibri" panose="020F0502020204030204" pitchFamily="34" charset="0"/>
                <a:ea typeface="Calibri" panose="020F0502020204030204" pitchFamily="34" charset="-122"/>
                <a:cs typeface="Calibri" panose="020F0502020204030204"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p:spPr>
        <p:txBody>
          <a:bodyPr wrap="square" rtlCol="0" anchor="ctr"/>
          <a:lstStyle/>
          <a:p>
            <a:pPr marL="0" indent="0">
              <a:buNone/>
            </a:pPr>
            <a:r>
              <a:rPr lang="en-US" sz="1200" b="1" kern="0" spc="200" dirty="0">
                <a:solidFill>
                  <a:srgbClr val="C1652F"/>
                </a:solidFill>
                <a:latin typeface="Calibri" panose="020F0502020204030204" pitchFamily="34" charset="0"/>
                <a:ea typeface="Calibri" panose="020F0502020204030204" pitchFamily="34" charset="-122"/>
                <a:cs typeface="Calibri" panose="020F0502020204030204" pitchFamily="34" charset="-120"/>
              </a:rPr>
              <a:t>THỰC NGHIỆM</a:t>
            </a:r>
            <a:endParaRPr lang="en-US" sz="1200" dirty="0"/>
          </a:p>
        </p:txBody>
      </p:sp>
      <p:sp>
        <p:nvSpPr>
          <p:cNvPr id="3" name="Text 1"/>
          <p:cNvSpPr/>
          <p:nvPr/>
        </p:nvSpPr>
        <p:spPr>
          <a:xfrm>
            <a:off x="548640" y="685800"/>
            <a:ext cx="10972800" cy="731520"/>
          </a:xfrm>
          <a:prstGeom prst="rect">
            <a:avLst/>
          </a:prstGeom>
          <a:noFill/>
        </p:spPr>
        <p:txBody>
          <a:bodyPr wrap="square" rtlCol="0" anchor="ctr"/>
          <a:lstStyle/>
          <a:p>
            <a:pPr marL="0" indent="0">
              <a:buNone/>
            </a:pPr>
            <a:r>
              <a:rPr lang="en-US" sz="3200" b="1" dirty="0">
                <a:solidFill>
                  <a:srgbClr val="15324A"/>
                </a:solidFill>
                <a:latin typeface="Cambria" panose="02040503050406030204" pitchFamily="34" charset="0"/>
                <a:ea typeface="Cambria" panose="02040503050406030204" pitchFamily="34" charset="-122"/>
                <a:cs typeface="Cambria" panose="02040503050406030204" pitchFamily="34" charset="-120"/>
              </a:rPr>
              <a:t>Kết quả thực nghiệm</a:t>
            </a:r>
            <a:endParaRPr lang="en-US" sz="3200" dirty="0"/>
          </a:p>
        </p:txBody>
      </p:sp>
      <p:sp>
        <p:nvSpPr>
          <p:cNvPr id="4" name="Shape 2"/>
          <p:cNvSpPr/>
          <p:nvPr/>
        </p:nvSpPr>
        <p:spPr>
          <a:xfrm>
            <a:off x="548640" y="1783080"/>
            <a:ext cx="6035040" cy="457200"/>
          </a:xfrm>
          <a:prstGeom prst="roundRect">
            <a:avLst>
              <a:gd name="adj" fmla="val 8000"/>
            </a:avLst>
          </a:prstGeom>
          <a:solidFill>
            <a:srgbClr val="15324A"/>
          </a:solidFill>
        </p:spPr>
      </p:sp>
      <p:sp>
        <p:nvSpPr>
          <p:cNvPr id="5" name="Text 3"/>
          <p:cNvSpPr/>
          <p:nvPr/>
        </p:nvSpPr>
        <p:spPr>
          <a:xfrm>
            <a:off x="685800" y="1783080"/>
            <a:ext cx="2423160" cy="457200"/>
          </a:xfrm>
          <a:prstGeom prst="rect">
            <a:avLst/>
          </a:prstGeom>
          <a:noFill/>
        </p:spPr>
        <p:txBody>
          <a:bodyPr wrap="square"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Mô hình</a:t>
            </a:r>
            <a:endParaRPr lang="en-US" sz="1250" dirty="0"/>
          </a:p>
        </p:txBody>
      </p:sp>
      <p:sp>
        <p:nvSpPr>
          <p:cNvPr id="6" name="Text 4"/>
          <p:cNvSpPr/>
          <p:nvPr/>
        </p:nvSpPr>
        <p:spPr>
          <a:xfrm>
            <a:off x="3246120" y="1783080"/>
            <a:ext cx="1600200" cy="457200"/>
          </a:xfrm>
          <a:prstGeom prst="rect">
            <a:avLst/>
          </a:prstGeom>
          <a:noFill/>
        </p:spPr>
        <p:txBody>
          <a:bodyPr wrap="square"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R² (gốc)</a:t>
            </a:r>
            <a:endParaRPr lang="en-US" sz="1250" dirty="0"/>
          </a:p>
        </p:txBody>
      </p:sp>
      <p:sp>
        <p:nvSpPr>
          <p:cNvPr id="7" name="Text 5"/>
          <p:cNvSpPr/>
          <p:nvPr/>
        </p:nvSpPr>
        <p:spPr>
          <a:xfrm>
            <a:off x="4983480" y="1783080"/>
            <a:ext cx="1600200" cy="457200"/>
          </a:xfrm>
          <a:prstGeom prst="rect">
            <a:avLst/>
          </a:prstGeom>
          <a:noFill/>
        </p:spPr>
        <p:txBody>
          <a:bodyPr wrap="square"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MAE (USD)</a:t>
            </a:r>
            <a:endParaRPr lang="en-US" sz="1250" dirty="0"/>
          </a:p>
        </p:txBody>
      </p:sp>
      <p:sp>
        <p:nvSpPr>
          <p:cNvPr id="8" name="Shape 6"/>
          <p:cNvSpPr/>
          <p:nvPr/>
        </p:nvSpPr>
        <p:spPr>
          <a:xfrm>
            <a:off x="548640" y="2240280"/>
            <a:ext cx="6035040" cy="566928"/>
          </a:xfrm>
          <a:prstGeom prst="rect">
            <a:avLst/>
          </a:prstGeom>
          <a:solidFill>
            <a:srgbClr val="FCEEE3"/>
          </a:solidFill>
        </p:spPr>
      </p:sp>
      <p:sp>
        <p:nvSpPr>
          <p:cNvPr id="9" name="Text 7"/>
          <p:cNvSpPr/>
          <p:nvPr/>
        </p:nvSpPr>
        <p:spPr>
          <a:xfrm>
            <a:off x="685800" y="2240280"/>
            <a:ext cx="2423160" cy="566928"/>
          </a:xfrm>
          <a:prstGeom prst="rect">
            <a:avLst/>
          </a:prstGeom>
          <a:noFill/>
        </p:spPr>
        <p:txBody>
          <a:bodyPr wrap="square" rtlCol="0" anchor="ctr"/>
          <a:lstStyle/>
          <a:p>
            <a:pPr marL="0" indent="0">
              <a:buNone/>
            </a:pPr>
            <a:r>
              <a:rPr lang="en-US" sz="1250" b="1" dirty="0">
                <a:solidFill>
                  <a:srgbClr val="C1652F"/>
                </a:solidFill>
                <a:latin typeface="Calibri" panose="020F0502020204030204" pitchFamily="34" charset="0"/>
                <a:ea typeface="Calibri" panose="020F0502020204030204" pitchFamily="34" charset="-122"/>
                <a:cs typeface="Calibri" panose="020F0502020204030204" pitchFamily="34" charset="-120"/>
              </a:rPr>
              <a:t>Lasso</a:t>
            </a:r>
            <a:endParaRPr lang="en-US" sz="1250" dirty="0"/>
          </a:p>
        </p:txBody>
      </p:sp>
      <p:sp>
        <p:nvSpPr>
          <p:cNvPr id="10" name="Text 8"/>
          <p:cNvSpPr/>
          <p:nvPr/>
        </p:nvSpPr>
        <p:spPr>
          <a:xfrm>
            <a:off x="3246120" y="2240280"/>
            <a:ext cx="1600200" cy="566928"/>
          </a:xfrm>
          <a:prstGeom prst="rect">
            <a:avLst/>
          </a:prstGeom>
          <a:noFill/>
        </p:spPr>
        <p:txBody>
          <a:bodyPr wrap="square" rtlCol="0" anchor="ctr"/>
          <a:lstStyle/>
          <a:p>
            <a:pPr marL="0" indent="0">
              <a:buNone/>
            </a:pPr>
            <a:r>
              <a:rPr lang="en-US" sz="1250" b="1" dirty="0">
                <a:solidFill>
                  <a:srgbClr val="C1652F"/>
                </a:solidFill>
                <a:latin typeface="Calibri" panose="020F0502020204030204" pitchFamily="34" charset="0"/>
                <a:ea typeface="Calibri" panose="020F0502020204030204" pitchFamily="34" charset="-122"/>
                <a:cs typeface="Calibri" panose="020F0502020204030204" pitchFamily="34" charset="-120"/>
              </a:rPr>
              <a:t>94,50%</a:t>
            </a:r>
            <a:endParaRPr lang="en-US" sz="1250" dirty="0"/>
          </a:p>
        </p:txBody>
      </p:sp>
      <p:sp>
        <p:nvSpPr>
          <p:cNvPr id="11" name="Text 9"/>
          <p:cNvSpPr/>
          <p:nvPr/>
        </p:nvSpPr>
        <p:spPr>
          <a:xfrm>
            <a:off x="4983480" y="2240280"/>
            <a:ext cx="1600200" cy="566928"/>
          </a:xfrm>
          <a:prstGeom prst="rect">
            <a:avLst/>
          </a:prstGeom>
          <a:noFill/>
        </p:spPr>
        <p:txBody>
          <a:bodyPr wrap="square" rtlCol="0" anchor="ctr"/>
          <a:lstStyle/>
          <a:p>
            <a:pPr marL="0" indent="0">
              <a:buNone/>
            </a:pPr>
            <a:r>
              <a:rPr lang="en-US" sz="1250" b="1" dirty="0">
                <a:solidFill>
                  <a:srgbClr val="C1652F"/>
                </a:solidFill>
                <a:latin typeface="Calibri" panose="020F0502020204030204" pitchFamily="34" charset="0"/>
                <a:ea typeface="Calibri" panose="020F0502020204030204" pitchFamily="34" charset="-122"/>
                <a:cs typeface="Calibri" panose="020F0502020204030204" pitchFamily="34" charset="-120"/>
              </a:rPr>
              <a:t>$12,988</a:t>
            </a:r>
            <a:endParaRPr lang="en-US" sz="1250" dirty="0"/>
          </a:p>
        </p:txBody>
      </p:sp>
      <p:sp>
        <p:nvSpPr>
          <p:cNvPr id="12" name="Shape 10"/>
          <p:cNvSpPr/>
          <p:nvPr/>
        </p:nvSpPr>
        <p:spPr>
          <a:xfrm>
            <a:off x="548640" y="2807208"/>
            <a:ext cx="6035040" cy="566928"/>
          </a:xfrm>
          <a:prstGeom prst="rect">
            <a:avLst/>
          </a:prstGeom>
          <a:solidFill>
            <a:srgbClr val="EEF1F3"/>
          </a:solidFill>
        </p:spPr>
      </p:sp>
      <p:sp>
        <p:nvSpPr>
          <p:cNvPr id="13" name="Text 11"/>
          <p:cNvSpPr/>
          <p:nvPr/>
        </p:nvSpPr>
        <p:spPr>
          <a:xfrm>
            <a:off x="685800" y="2807208"/>
            <a:ext cx="242316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SVR</a:t>
            </a:r>
            <a:endParaRPr lang="en-US" sz="1250" dirty="0"/>
          </a:p>
        </p:txBody>
      </p:sp>
      <p:sp>
        <p:nvSpPr>
          <p:cNvPr id="14" name="Text 12"/>
          <p:cNvSpPr/>
          <p:nvPr/>
        </p:nvSpPr>
        <p:spPr>
          <a:xfrm>
            <a:off x="3246120" y="2807208"/>
            <a:ext cx="160020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92,58%</a:t>
            </a:r>
            <a:endParaRPr lang="en-US" sz="1250" dirty="0"/>
          </a:p>
        </p:txBody>
      </p:sp>
      <p:sp>
        <p:nvSpPr>
          <p:cNvPr id="15" name="Text 13"/>
          <p:cNvSpPr/>
          <p:nvPr/>
        </p:nvSpPr>
        <p:spPr>
          <a:xfrm>
            <a:off x="4983480" y="2807208"/>
            <a:ext cx="160020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$14,812</a:t>
            </a:r>
            <a:endParaRPr lang="en-US" sz="1250" dirty="0"/>
          </a:p>
        </p:txBody>
      </p:sp>
      <p:sp>
        <p:nvSpPr>
          <p:cNvPr id="16" name="Shape 14"/>
          <p:cNvSpPr/>
          <p:nvPr/>
        </p:nvSpPr>
        <p:spPr>
          <a:xfrm>
            <a:off x="548640" y="3374136"/>
            <a:ext cx="6035040" cy="566928"/>
          </a:xfrm>
          <a:prstGeom prst="rect">
            <a:avLst/>
          </a:prstGeom>
          <a:solidFill>
            <a:srgbClr val="FFFFFF"/>
          </a:solidFill>
        </p:spPr>
      </p:sp>
      <p:sp>
        <p:nvSpPr>
          <p:cNvPr id="17" name="Text 15"/>
          <p:cNvSpPr/>
          <p:nvPr/>
        </p:nvSpPr>
        <p:spPr>
          <a:xfrm>
            <a:off x="685800" y="3374136"/>
            <a:ext cx="242316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XGBoost</a:t>
            </a:r>
            <a:endParaRPr lang="en-US" sz="1250" dirty="0"/>
          </a:p>
        </p:txBody>
      </p:sp>
      <p:sp>
        <p:nvSpPr>
          <p:cNvPr id="18" name="Text 16"/>
          <p:cNvSpPr/>
          <p:nvPr/>
        </p:nvSpPr>
        <p:spPr>
          <a:xfrm>
            <a:off x="3246120" y="3374136"/>
            <a:ext cx="160020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92,42%</a:t>
            </a:r>
            <a:endParaRPr lang="en-US" sz="1250" dirty="0"/>
          </a:p>
        </p:txBody>
      </p:sp>
      <p:sp>
        <p:nvSpPr>
          <p:cNvPr id="19" name="Text 17"/>
          <p:cNvSpPr/>
          <p:nvPr/>
        </p:nvSpPr>
        <p:spPr>
          <a:xfrm>
            <a:off x="4983480" y="3374136"/>
            <a:ext cx="160020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$13,796</a:t>
            </a:r>
            <a:endParaRPr lang="en-US" sz="1250" dirty="0"/>
          </a:p>
        </p:txBody>
      </p:sp>
      <p:sp>
        <p:nvSpPr>
          <p:cNvPr id="20" name="Shape 18"/>
          <p:cNvSpPr/>
          <p:nvPr/>
        </p:nvSpPr>
        <p:spPr>
          <a:xfrm>
            <a:off x="548640" y="3941064"/>
            <a:ext cx="6035040" cy="566928"/>
          </a:xfrm>
          <a:prstGeom prst="rect">
            <a:avLst/>
          </a:prstGeom>
          <a:solidFill>
            <a:srgbClr val="EEF1F3"/>
          </a:solidFill>
        </p:spPr>
      </p:sp>
      <p:sp>
        <p:nvSpPr>
          <p:cNvPr id="21" name="Text 19"/>
          <p:cNvSpPr/>
          <p:nvPr/>
        </p:nvSpPr>
        <p:spPr>
          <a:xfrm>
            <a:off x="685800" y="3941064"/>
            <a:ext cx="242316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MLP</a:t>
            </a:r>
            <a:endParaRPr lang="en-US" sz="1250" dirty="0"/>
          </a:p>
        </p:txBody>
      </p:sp>
      <p:sp>
        <p:nvSpPr>
          <p:cNvPr id="22" name="Text 20"/>
          <p:cNvSpPr/>
          <p:nvPr/>
        </p:nvSpPr>
        <p:spPr>
          <a:xfrm>
            <a:off x="3246120" y="3941064"/>
            <a:ext cx="160020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91,91%</a:t>
            </a:r>
            <a:endParaRPr lang="en-US" sz="1250" dirty="0"/>
          </a:p>
        </p:txBody>
      </p:sp>
      <p:sp>
        <p:nvSpPr>
          <p:cNvPr id="23" name="Text 21"/>
          <p:cNvSpPr/>
          <p:nvPr/>
        </p:nvSpPr>
        <p:spPr>
          <a:xfrm>
            <a:off x="4983480" y="3941064"/>
            <a:ext cx="160020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$15,262</a:t>
            </a:r>
            <a:endParaRPr lang="en-US" sz="1250" dirty="0"/>
          </a:p>
        </p:txBody>
      </p:sp>
      <p:sp>
        <p:nvSpPr>
          <p:cNvPr id="24" name="Shape 22"/>
          <p:cNvSpPr/>
          <p:nvPr/>
        </p:nvSpPr>
        <p:spPr>
          <a:xfrm>
            <a:off x="548640" y="4507992"/>
            <a:ext cx="6035040" cy="566928"/>
          </a:xfrm>
          <a:prstGeom prst="rect">
            <a:avLst/>
          </a:prstGeom>
          <a:solidFill>
            <a:srgbClr val="FFFFFF"/>
          </a:solidFill>
        </p:spPr>
      </p:sp>
      <p:sp>
        <p:nvSpPr>
          <p:cNvPr id="25" name="Text 23"/>
          <p:cNvSpPr/>
          <p:nvPr/>
        </p:nvSpPr>
        <p:spPr>
          <a:xfrm>
            <a:off x="685800" y="4507992"/>
            <a:ext cx="242316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Random Forest</a:t>
            </a:r>
            <a:endParaRPr lang="en-US" sz="1250" dirty="0"/>
          </a:p>
        </p:txBody>
      </p:sp>
      <p:sp>
        <p:nvSpPr>
          <p:cNvPr id="26" name="Text 24"/>
          <p:cNvSpPr/>
          <p:nvPr/>
        </p:nvSpPr>
        <p:spPr>
          <a:xfrm>
            <a:off x="3246120" y="4507992"/>
            <a:ext cx="160020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90,56%</a:t>
            </a:r>
            <a:endParaRPr lang="en-US" sz="1250" dirty="0"/>
          </a:p>
        </p:txBody>
      </p:sp>
      <p:sp>
        <p:nvSpPr>
          <p:cNvPr id="27" name="Text 25"/>
          <p:cNvSpPr/>
          <p:nvPr/>
        </p:nvSpPr>
        <p:spPr>
          <a:xfrm>
            <a:off x="4983480" y="4507992"/>
            <a:ext cx="1600200" cy="566928"/>
          </a:xfrm>
          <a:prstGeom prst="rect">
            <a:avLst/>
          </a:prstGeom>
          <a:noFill/>
        </p:spPr>
        <p:txBody>
          <a:bodyPr wrap="square" rtlCol="0" anchor="ctr"/>
          <a:lstStyle/>
          <a:p>
            <a:pPr marL="0" indent="0">
              <a:buNone/>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$15,444</a:t>
            </a:r>
            <a:endParaRPr lang="en-US" sz="1250" dirty="0"/>
          </a:p>
        </p:txBody>
      </p:sp>
      <p:sp>
        <p:nvSpPr>
          <p:cNvPr id="28" name="Text 26"/>
          <p:cNvSpPr/>
          <p:nvPr/>
        </p:nvSpPr>
        <p:spPr>
          <a:xfrm>
            <a:off x="548640" y="5212080"/>
            <a:ext cx="6035040" cy="365760"/>
          </a:xfrm>
          <a:prstGeom prst="rect">
            <a:avLst/>
          </a:prstGeom>
          <a:noFill/>
        </p:spPr>
        <p:txBody>
          <a:bodyPr wrap="square" rtlCol="0" anchor="ctr"/>
          <a:lstStyle/>
          <a:p>
            <a:pPr marL="0" indent="0">
              <a:buNone/>
            </a:pPr>
            <a:r>
              <a:rPr lang="en-US" sz="1050" i="1" dirty="0">
                <a:solidFill>
                  <a:srgbClr val="5B6B75"/>
                </a:solidFill>
                <a:latin typeface="Calibri" panose="020F0502020204030204" pitchFamily="34" charset="0"/>
                <a:ea typeface="Calibri" panose="020F0502020204030204" pitchFamily="34" charset="-122"/>
                <a:cs typeface="Calibri" panose="020F0502020204030204" pitchFamily="34" charset="-120"/>
              </a:rPr>
              <a:t>Đánh giá trên tập kiểm thử độc lập (30%) sau GridSearchCV (5-Fold CV)</a:t>
            </a:r>
            <a:endParaRPr lang="en-US" sz="1050" dirty="0"/>
          </a:p>
        </p:txBody>
      </p:sp>
      <p:sp>
        <p:nvSpPr>
          <p:cNvPr id="29" name="Text 27"/>
          <p:cNvSpPr/>
          <p:nvPr/>
        </p:nvSpPr>
        <p:spPr>
          <a:xfrm>
            <a:off x="6949440" y="1783080"/>
            <a:ext cx="4663440" cy="274320"/>
          </a:xfrm>
          <a:prstGeom prst="rect">
            <a:avLst/>
          </a:prstGeom>
          <a:noFill/>
        </p:spPr>
        <p:txBody>
          <a:bodyPr wrap="square" rtlCol="0" anchor="ctr"/>
          <a:lstStyle/>
          <a:p>
            <a:pPr marL="0" indent="0">
              <a:buNone/>
            </a:pPr>
            <a:r>
              <a:rPr lang="en-US" sz="1200" b="1" dirty="0">
                <a:solidFill>
                  <a:srgbClr val="C1652F"/>
                </a:solidFill>
                <a:latin typeface="Calibri" panose="020F0502020204030204" pitchFamily="34" charset="0"/>
                <a:ea typeface="Calibri" panose="020F0502020204030204" pitchFamily="34" charset="-122"/>
                <a:cs typeface="Calibri" panose="020F0502020204030204" pitchFamily="34" charset="-120"/>
              </a:rPr>
              <a:t>SO SÁNH R² (KHÔNG GIAN GỐC)</a:t>
            </a:r>
            <a:endParaRPr lang="en-US" sz="1200" dirty="0"/>
          </a:p>
        </p:txBody>
      </p:sp>
      <p:graphicFrame>
        <p:nvGraphicFramePr>
          <p:cNvPr id="30" name="Chart 0"/>
          <p:cNvGraphicFramePr/>
          <p:nvPr/>
        </p:nvGraphicFramePr>
        <p:xfrm>
          <a:off x="6949440" y="2103120"/>
          <a:ext cx="4663440" cy="3200400"/>
        </p:xfrm>
        <a:graphic>
          <a:graphicData uri="http://schemas.openxmlformats.org/drawingml/2006/chart">
            <c:chart xmlns:c="http://schemas.openxmlformats.org/drawingml/2006/chart" xmlns:r="http://schemas.openxmlformats.org/officeDocument/2006/relationships" r:id="rId1"/>
          </a:graphicData>
        </a:graphic>
      </p:graphicFrame>
      <p:sp>
        <p:nvSpPr>
          <p:cNvPr id="31" name="Shape 28"/>
          <p:cNvSpPr/>
          <p:nvPr/>
        </p:nvSpPr>
        <p:spPr>
          <a:xfrm>
            <a:off x="6949440" y="5394960"/>
            <a:ext cx="4663440" cy="868680"/>
          </a:xfrm>
          <a:prstGeom prst="roundRect">
            <a:avLst>
              <a:gd name="adj" fmla="val 7368"/>
            </a:avLst>
          </a:prstGeom>
          <a:solidFill>
            <a:srgbClr val="15324A"/>
          </a:solidFill>
        </p:spPr>
      </p:sp>
      <p:sp>
        <p:nvSpPr>
          <p:cNvPr id="32" name="Text 29"/>
          <p:cNvSpPr/>
          <p:nvPr/>
        </p:nvSpPr>
        <p:spPr>
          <a:xfrm>
            <a:off x="7178040" y="5394960"/>
            <a:ext cx="4206240" cy="868680"/>
          </a:xfrm>
          <a:prstGeom prst="rect">
            <a:avLst/>
          </a:prstGeom>
          <a:noFill/>
        </p:spPr>
        <p:txBody>
          <a:bodyPr wrap="square" rtlCol="0" anchor="ctr"/>
          <a:lstStyle/>
          <a:p>
            <a:pPr marL="0" indent="0">
              <a:lnSpc>
                <a:spcPct val="120000"/>
              </a:lnSpc>
              <a:buNone/>
            </a:pPr>
            <a:r>
              <a:rPr lang="en-US" sz="1100" b="1" dirty="0">
                <a:solidFill>
                  <a:srgbClr val="E8A874"/>
                </a:solidFill>
                <a:latin typeface="Calibri" panose="020F0502020204030204" pitchFamily="34" charset="0"/>
                <a:ea typeface="Calibri" panose="020F0502020204030204" pitchFamily="34" charset="-122"/>
                <a:cs typeface="Calibri" panose="020F0502020204030204" pitchFamily="34" charset="-120"/>
              </a:rPr>
              <a:t>Lasso vượt trội nhất: </a:t>
            </a:r>
            <a:r>
              <a:rPr lang="en-US" sz="1100" dirty="0">
                <a:solidFill>
                  <a:srgbClr val="DCE6EB"/>
                </a:solidFill>
                <a:latin typeface="Calibri" panose="020F0502020204030204" pitchFamily="34" charset="0"/>
                <a:ea typeface="Calibri" panose="020F0502020204030204" pitchFamily="34" charset="-122"/>
                <a:cs typeface="Calibri" panose="020F0502020204030204" pitchFamily="34" charset="-120"/>
              </a:rPr>
              <a:t>R² 94,50% · MAE thấp nhất 12.988 USD nhờ điều chuẩn L1 loại nhiễu one-hot.</a:t>
            </a:r>
            <a:endParaRPr lang="en-US" sz="1100" dirty="0"/>
          </a:p>
        </p:txBody>
      </p:sp>
      <p:sp>
        <p:nvSpPr>
          <p:cNvPr id="33" name="Text 30"/>
          <p:cNvSpPr/>
          <p:nvPr/>
        </p:nvSpPr>
        <p:spPr>
          <a:xfrm>
            <a:off x="11521440" y="6473952"/>
            <a:ext cx="457200" cy="274320"/>
          </a:xfrm>
          <a:prstGeom prst="rect">
            <a:avLst/>
          </a:prstGeom>
          <a:noFill/>
        </p:spPr>
        <p:txBody>
          <a:bodyPr wrap="square" rtlCol="0" anchor="ctr"/>
          <a:lstStyle/>
          <a:p>
            <a:pPr marL="0" indent="0" algn="r">
              <a:buNone/>
            </a:pPr>
            <a:r>
              <a:rPr lang="en-US" sz="1000" dirty="0">
                <a:solidFill>
                  <a:srgbClr val="5B6B75"/>
                </a:solidFill>
                <a:latin typeface="Calibri" panose="020F0502020204030204" pitchFamily="34" charset="0"/>
                <a:ea typeface="Calibri" panose="020F0502020204030204" pitchFamily="34" charset="-122"/>
                <a:cs typeface="Calibri" panose="020F0502020204030204"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p:spPr>
        <p:txBody>
          <a:bodyPr wrap="square" rtlCol="0" anchor="ctr"/>
          <a:lstStyle/>
          <a:p>
            <a:pPr marL="0" indent="0">
              <a:buNone/>
            </a:pPr>
            <a:r>
              <a:rPr lang="en-US" sz="1200" b="1" kern="0" spc="200" dirty="0">
                <a:solidFill>
                  <a:srgbClr val="C1652F"/>
                </a:solidFill>
                <a:latin typeface="Calibri" panose="020F0502020204030204" pitchFamily="34" charset="0"/>
                <a:ea typeface="Calibri" panose="020F0502020204030204" pitchFamily="34" charset="-122"/>
                <a:cs typeface="Calibri" panose="020F0502020204030204" pitchFamily="34" charset="-120"/>
              </a:rPr>
              <a:t>TỔNG KẾT</a:t>
            </a:r>
            <a:endParaRPr lang="en-US" sz="1200" dirty="0"/>
          </a:p>
        </p:txBody>
      </p:sp>
      <p:sp>
        <p:nvSpPr>
          <p:cNvPr id="3" name="Text 1"/>
          <p:cNvSpPr/>
          <p:nvPr/>
        </p:nvSpPr>
        <p:spPr>
          <a:xfrm>
            <a:off x="548640" y="685800"/>
            <a:ext cx="10972800" cy="731520"/>
          </a:xfrm>
          <a:prstGeom prst="rect">
            <a:avLst/>
          </a:prstGeom>
          <a:noFill/>
        </p:spPr>
        <p:txBody>
          <a:bodyPr wrap="square" rtlCol="0" anchor="ctr"/>
          <a:lstStyle/>
          <a:p>
            <a:pPr marL="0" indent="0">
              <a:buNone/>
            </a:pPr>
            <a:r>
              <a:rPr lang="en-US" sz="3200" b="1" dirty="0">
                <a:solidFill>
                  <a:srgbClr val="15324A"/>
                </a:solidFill>
                <a:latin typeface="Cambria" panose="02040503050406030204" pitchFamily="34" charset="0"/>
                <a:ea typeface="Cambria" panose="02040503050406030204" pitchFamily="34" charset="-122"/>
                <a:cs typeface="Cambria" panose="02040503050406030204" pitchFamily="34" charset="-120"/>
              </a:rPr>
              <a:t>Kết luận &amp; Hướng phát triển</a:t>
            </a:r>
            <a:endParaRPr lang="en-US" sz="3200" dirty="0"/>
          </a:p>
        </p:txBody>
      </p:sp>
      <p:sp>
        <p:nvSpPr>
          <p:cNvPr id="4" name="Shape 2"/>
          <p:cNvSpPr/>
          <p:nvPr/>
        </p:nvSpPr>
        <p:spPr>
          <a:xfrm>
            <a:off x="548640" y="1737360"/>
            <a:ext cx="5349240" cy="4297680"/>
          </a:xfrm>
          <a:prstGeom prst="roundRect">
            <a:avLst>
              <a:gd name="adj" fmla="val 1702"/>
            </a:avLst>
          </a:prstGeom>
          <a:solidFill>
            <a:srgbClr val="15324A"/>
          </a:solidFill>
        </p:spPr>
      </p:sp>
      <p:sp>
        <p:nvSpPr>
          <p:cNvPr id="5" name="Shape 3"/>
          <p:cNvSpPr/>
          <p:nvPr/>
        </p:nvSpPr>
        <p:spPr>
          <a:xfrm>
            <a:off x="868680" y="2103120"/>
            <a:ext cx="685800" cy="685800"/>
          </a:xfrm>
          <a:prstGeom prst="ellipse">
            <a:avLst/>
          </a:prstGeom>
          <a:solidFill>
            <a:srgbClr val="C1652F"/>
          </a:solidFill>
        </p:spPr>
      </p:sp>
      <p:pic>
        <p:nvPicPr>
          <p:cNvPr id="6" name="Image 0" descr="icons/bar.png"/>
          <p:cNvPicPr>
            <a:picLocks noChangeAspect="1"/>
          </p:cNvPicPr>
          <p:nvPr/>
        </p:nvPicPr>
        <p:blipFill>
          <a:blip r:embed="rId1"/>
          <a:stretch>
            <a:fillRect/>
          </a:stretch>
        </p:blipFill>
        <p:spPr>
          <a:xfrm>
            <a:off x="1046988" y="2281428"/>
            <a:ext cx="329184" cy="329184"/>
          </a:xfrm>
          <a:prstGeom prst="rect">
            <a:avLst/>
          </a:prstGeom>
        </p:spPr>
      </p:pic>
      <p:sp>
        <p:nvSpPr>
          <p:cNvPr id="7" name="Text 4"/>
          <p:cNvSpPr/>
          <p:nvPr/>
        </p:nvSpPr>
        <p:spPr>
          <a:xfrm>
            <a:off x="1737360" y="2194560"/>
            <a:ext cx="3657600" cy="457200"/>
          </a:xfrm>
          <a:prstGeom prst="rect">
            <a:avLst/>
          </a:prstGeom>
          <a:noFill/>
        </p:spPr>
        <p:txBody>
          <a:bodyPr wrap="square" rtlCol="0" anchor="ctr"/>
          <a:lstStyle/>
          <a:p>
            <a:pPr marL="0" indent="0">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Kết luận</a:t>
            </a:r>
            <a:endParaRPr lang="en-US" sz="2000" dirty="0"/>
          </a:p>
        </p:txBody>
      </p:sp>
      <p:sp>
        <p:nvSpPr>
          <p:cNvPr id="8" name="Text 5"/>
          <p:cNvSpPr/>
          <p:nvPr/>
        </p:nvSpPr>
        <p:spPr>
          <a:xfrm>
            <a:off x="868680" y="2880360"/>
            <a:ext cx="4709160" cy="2926080"/>
          </a:xfrm>
          <a:prstGeom prst="rect">
            <a:avLst/>
          </a:prstGeom>
          <a:noFill/>
        </p:spPr>
        <p:txBody>
          <a:bodyPr wrap="square" rtlCol="0" anchor="ctr"/>
          <a:lstStyle/>
          <a:p>
            <a:pPr marL="342900" indent="-342900">
              <a:spcAft>
                <a:spcPts val="1000"/>
              </a:spcAft>
              <a:buSzPct val="100000"/>
              <a:buChar char="▪"/>
            </a:pPr>
            <a:r>
              <a:rPr lang="en-US" sz="1250" dirty="0">
                <a:solidFill>
                  <a:srgbClr val="DCE6EB"/>
                </a:solidFill>
                <a:latin typeface="Calibri" panose="020F0502020204030204" pitchFamily="34" charset="0"/>
                <a:ea typeface="Calibri" panose="020F0502020204030204" pitchFamily="34" charset="-122"/>
                <a:cs typeface="Calibri" panose="020F0502020204030204" pitchFamily="34" charset="-120"/>
              </a:rPr>
              <a:t>Xây dựng thành công quy trình dự đoán SalePrice trên bộ Ames Housing với 5 mô hình hồi quy.</a:t>
            </a:r>
            <a:endParaRPr lang="en-US" sz="1250" dirty="0"/>
          </a:p>
          <a:p>
            <a:pPr marL="342900" indent="-342900">
              <a:spcAft>
                <a:spcPts val="1000"/>
              </a:spcAft>
              <a:buSzPct val="100000"/>
              <a:buChar char="▪"/>
            </a:pPr>
            <a:r>
              <a:rPr lang="en-US" sz="1250" dirty="0">
                <a:solidFill>
                  <a:srgbClr val="DCE6EB"/>
                </a:solidFill>
                <a:latin typeface="Calibri" panose="020F0502020204030204" pitchFamily="34" charset="0"/>
                <a:ea typeface="Calibri" panose="020F0502020204030204" pitchFamily="34" charset="-122"/>
                <a:cs typeface="Calibri" panose="020F0502020204030204" pitchFamily="34" charset="-120"/>
              </a:rPr>
              <a:t>Kỹ nghệ đặc trưng (TotalSF, TotalBath, HouseAge...) + log1p target giúp mô hình hội tụ tốt hơn.</a:t>
            </a:r>
            <a:endParaRPr lang="en-US" sz="1250" dirty="0"/>
          </a:p>
          <a:p>
            <a:pPr marL="342900" indent="-342900">
              <a:spcAft>
                <a:spcPts val="1000"/>
              </a:spcAft>
              <a:buSzPct val="100000"/>
              <a:buChar char="▪"/>
            </a:pPr>
            <a:r>
              <a:rPr lang="en-US" sz="1250" dirty="0">
                <a:solidFill>
                  <a:srgbClr val="DCE6EB"/>
                </a:solidFill>
                <a:latin typeface="Calibri" panose="020F0502020204030204" pitchFamily="34" charset="0"/>
                <a:ea typeface="Calibri" panose="020F0502020204030204" pitchFamily="34" charset="-122"/>
                <a:cs typeface="Calibri" panose="020F0502020204030204" pitchFamily="34" charset="-120"/>
              </a:rPr>
              <a:t>Lasso đạt hiệu năng cao nhất: R² (gốc) 94,50%, MAE 12.988 USD — nhờ điều chuẩn L1.</a:t>
            </a:r>
            <a:endParaRPr lang="en-US" sz="1250" dirty="0"/>
          </a:p>
          <a:p>
            <a:pPr marL="342900" indent="-342900">
              <a:spcAft>
                <a:spcPts val="1000"/>
              </a:spcAft>
              <a:buSzPct val="100000"/>
              <a:buChar char="▪"/>
            </a:pPr>
            <a:r>
              <a:rPr lang="en-US" sz="1250" dirty="0">
                <a:solidFill>
                  <a:srgbClr val="DCE6EB"/>
                </a:solidFill>
                <a:latin typeface="Calibri" panose="020F0502020204030204" pitchFamily="34" charset="0"/>
                <a:ea typeface="Calibri" panose="020F0502020204030204" pitchFamily="34" charset="-122"/>
                <a:cs typeface="Calibri" panose="020F0502020204030204" pitchFamily="34" charset="-120"/>
              </a:rPr>
              <a:t>SVR &amp; XGBoost tiệm cận Lasso (~92-93%); Random Forest xếp cuối do không gian one-hot thưa.</a:t>
            </a:r>
            <a:endParaRPr lang="en-US" sz="1250" dirty="0"/>
          </a:p>
        </p:txBody>
      </p:sp>
      <p:sp>
        <p:nvSpPr>
          <p:cNvPr id="9" name="Shape 6"/>
          <p:cNvSpPr/>
          <p:nvPr/>
        </p:nvSpPr>
        <p:spPr>
          <a:xfrm>
            <a:off x="6263640" y="1737360"/>
            <a:ext cx="5349240" cy="4297680"/>
          </a:xfrm>
          <a:prstGeom prst="roundRect">
            <a:avLst>
              <a:gd name="adj" fmla="val 1702"/>
            </a:avLst>
          </a:prstGeom>
          <a:solidFill>
            <a:srgbClr val="EEF1F3"/>
          </a:solidFill>
        </p:spPr>
      </p:sp>
      <p:sp>
        <p:nvSpPr>
          <p:cNvPr id="10" name="Shape 7"/>
          <p:cNvSpPr/>
          <p:nvPr/>
        </p:nvSpPr>
        <p:spPr>
          <a:xfrm>
            <a:off x="6583680" y="2103120"/>
            <a:ext cx="685800" cy="685800"/>
          </a:xfrm>
          <a:prstGeom prst="ellipse">
            <a:avLst/>
          </a:prstGeom>
          <a:solidFill>
            <a:srgbClr val="15324A"/>
          </a:solidFill>
        </p:spPr>
      </p:sp>
      <p:pic>
        <p:nvPicPr>
          <p:cNvPr id="11" name="Image 1" descr="icons/bulb.png"/>
          <p:cNvPicPr>
            <a:picLocks noChangeAspect="1"/>
          </p:cNvPicPr>
          <p:nvPr/>
        </p:nvPicPr>
        <p:blipFill>
          <a:blip r:embed="rId2"/>
          <a:stretch>
            <a:fillRect/>
          </a:stretch>
        </p:blipFill>
        <p:spPr>
          <a:xfrm>
            <a:off x="6761988" y="2281428"/>
            <a:ext cx="329184" cy="329184"/>
          </a:xfrm>
          <a:prstGeom prst="rect">
            <a:avLst/>
          </a:prstGeom>
        </p:spPr>
      </p:pic>
      <p:sp>
        <p:nvSpPr>
          <p:cNvPr id="12" name="Text 8"/>
          <p:cNvSpPr/>
          <p:nvPr/>
        </p:nvSpPr>
        <p:spPr>
          <a:xfrm>
            <a:off x="7452360" y="2194560"/>
            <a:ext cx="3657600" cy="457200"/>
          </a:xfrm>
          <a:prstGeom prst="rect">
            <a:avLst/>
          </a:prstGeom>
          <a:noFill/>
        </p:spPr>
        <p:txBody>
          <a:bodyPr wrap="square" rtlCol="0" anchor="ctr"/>
          <a:lstStyle/>
          <a:p>
            <a:pPr marL="0" indent="0">
              <a:buNone/>
            </a:pPr>
            <a:r>
              <a:rPr lang="en-US" sz="2000" b="1" dirty="0">
                <a:solidFill>
                  <a:srgbClr val="15324A"/>
                </a:solidFill>
                <a:latin typeface="Cambria" panose="02040503050406030204" pitchFamily="34" charset="0"/>
                <a:ea typeface="Cambria" panose="02040503050406030204" pitchFamily="34" charset="-122"/>
                <a:cs typeface="Cambria" panose="02040503050406030204" pitchFamily="34" charset="-120"/>
              </a:rPr>
              <a:t>Hướng phát triển</a:t>
            </a:r>
            <a:endParaRPr lang="en-US" sz="2000" dirty="0"/>
          </a:p>
        </p:txBody>
      </p:sp>
      <p:sp>
        <p:nvSpPr>
          <p:cNvPr id="13" name="Text 9"/>
          <p:cNvSpPr/>
          <p:nvPr/>
        </p:nvSpPr>
        <p:spPr>
          <a:xfrm>
            <a:off x="6629400" y="2880360"/>
            <a:ext cx="4709160" cy="2926080"/>
          </a:xfrm>
          <a:prstGeom prst="rect">
            <a:avLst/>
          </a:prstGeom>
          <a:noFill/>
        </p:spPr>
        <p:txBody>
          <a:bodyPr wrap="square" rtlCol="0" anchor="ctr"/>
          <a:lstStyle/>
          <a:p>
            <a:pPr marL="342900" indent="-342900">
              <a:spcAft>
                <a:spcPts val="1000"/>
              </a:spcAft>
              <a:buSzPct val="100000"/>
              <a:buChar char="▪"/>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Xây dựng mô hình Stacking/Ensemble kết hợp Lasso, SVR và XGBoost.</a:t>
            </a:r>
            <a:endParaRPr lang="en-US" sz="1250" dirty="0"/>
          </a:p>
          <a:p>
            <a:pPr marL="342900" indent="-342900">
              <a:spcAft>
                <a:spcPts val="1000"/>
              </a:spcAft>
              <a:buSzPct val="100000"/>
              <a:buChar char="▪"/>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Bổ sung đặc trưng ngoài: khoảng cách trung tâm, chất lượng khu học chánh, chỉ số an ninh.</a:t>
            </a:r>
            <a:endParaRPr lang="en-US" sz="1250" dirty="0"/>
          </a:p>
          <a:p>
            <a:pPr marL="342900" indent="-342900">
              <a:spcAft>
                <a:spcPts val="1000"/>
              </a:spcAft>
              <a:buSzPct val="100000"/>
              <a:buChar char="▪"/>
            </a:pPr>
            <a:r>
              <a:rPr lang="en-US" sz="1250" dirty="0">
                <a:solidFill>
                  <a:srgbClr val="1F2A33"/>
                </a:solidFill>
                <a:latin typeface="Calibri" panose="020F0502020204030204" pitchFamily="34" charset="0"/>
                <a:ea typeface="Calibri" panose="020F0502020204030204" pitchFamily="34" charset="-122"/>
                <a:cs typeface="Calibri" panose="020F0502020204030204" pitchFamily="34" charset="-120"/>
              </a:rPr>
              <a:t>Thử nghiệm Tabular Deep Learning (TabNet, mạng nơ-ron kết hợp Embedding) cho biến phân loại.</a:t>
            </a:r>
            <a:endParaRPr lang="en-US" sz="1250" dirty="0"/>
          </a:p>
        </p:txBody>
      </p:sp>
      <p:sp>
        <p:nvSpPr>
          <p:cNvPr id="14" name="Text 10"/>
          <p:cNvSpPr/>
          <p:nvPr/>
        </p:nvSpPr>
        <p:spPr>
          <a:xfrm>
            <a:off x="11521440" y="6473952"/>
            <a:ext cx="457200" cy="274320"/>
          </a:xfrm>
          <a:prstGeom prst="rect">
            <a:avLst/>
          </a:prstGeom>
          <a:noFill/>
        </p:spPr>
        <p:txBody>
          <a:bodyPr wrap="square" rtlCol="0" anchor="ctr"/>
          <a:lstStyle/>
          <a:p>
            <a:pPr marL="0" indent="0" algn="r">
              <a:buNone/>
            </a:pPr>
            <a:r>
              <a:rPr lang="en-US" sz="1000" dirty="0">
                <a:solidFill>
                  <a:srgbClr val="5B6B75"/>
                </a:solidFill>
                <a:latin typeface="Calibri" panose="020F0502020204030204" pitchFamily="34" charset="0"/>
                <a:ea typeface="Calibri" panose="020F0502020204030204" pitchFamily="34" charset="-122"/>
                <a:cs typeface="Calibri" panose="020F0502020204030204"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p:spPr>
        <p:txBody>
          <a:bodyPr wrap="square" rtlCol="0" anchor="ctr"/>
          <a:lstStyle/>
          <a:p>
            <a:pPr marL="0" indent="0">
              <a:buNone/>
            </a:pPr>
            <a:r>
              <a:rPr lang="en-US" sz="1200" b="1" kern="0" spc="200" dirty="0">
                <a:solidFill>
                  <a:srgbClr val="C1652F"/>
                </a:solidFill>
                <a:latin typeface="Calibri" panose="020F0502020204030204" pitchFamily="34" charset="0"/>
                <a:ea typeface="Calibri" panose="020F0502020204030204" pitchFamily="34" charset="-122"/>
                <a:cs typeface="Calibri" panose="020F0502020204030204" pitchFamily="34" charset="-120"/>
              </a:rPr>
              <a:t>PHỤ LỤC</a:t>
            </a:r>
            <a:endParaRPr lang="en-US" sz="1200" dirty="0"/>
          </a:p>
        </p:txBody>
      </p:sp>
      <p:sp>
        <p:nvSpPr>
          <p:cNvPr id="3" name="Text 1"/>
          <p:cNvSpPr/>
          <p:nvPr/>
        </p:nvSpPr>
        <p:spPr>
          <a:xfrm>
            <a:off x="548640" y="685800"/>
            <a:ext cx="10972800" cy="731520"/>
          </a:xfrm>
          <a:prstGeom prst="rect">
            <a:avLst/>
          </a:prstGeom>
          <a:noFill/>
        </p:spPr>
        <p:txBody>
          <a:bodyPr wrap="square" rtlCol="0" anchor="ctr"/>
          <a:lstStyle/>
          <a:p>
            <a:pPr marL="0" indent="0">
              <a:buNone/>
            </a:pPr>
            <a:r>
              <a:rPr lang="en-US" sz="3200" b="1" dirty="0">
                <a:solidFill>
                  <a:srgbClr val="15324A"/>
                </a:solidFill>
                <a:latin typeface="Cambria" panose="02040503050406030204" pitchFamily="34" charset="0"/>
                <a:ea typeface="Cambria" panose="02040503050406030204" pitchFamily="34" charset="-122"/>
                <a:cs typeface="Cambria" panose="02040503050406030204" pitchFamily="34" charset="-120"/>
              </a:rPr>
              <a:t>Phân công công việc</a:t>
            </a:r>
            <a:endParaRPr lang="en-US" sz="3200" dirty="0"/>
          </a:p>
        </p:txBody>
      </p:sp>
      <p:sp>
        <p:nvSpPr>
          <p:cNvPr id="4" name="Shape 2"/>
          <p:cNvSpPr/>
          <p:nvPr/>
        </p:nvSpPr>
        <p:spPr>
          <a:xfrm>
            <a:off x="548640" y="1691640"/>
            <a:ext cx="5349240" cy="4114800"/>
          </a:xfrm>
          <a:prstGeom prst="roundRect">
            <a:avLst>
              <a:gd name="adj" fmla="val 1778"/>
            </a:avLst>
          </a:prstGeom>
          <a:solidFill>
            <a:srgbClr val="EEF1F3"/>
          </a:solidFill>
        </p:spPr>
      </p:sp>
      <p:sp>
        <p:nvSpPr>
          <p:cNvPr id="5" name="Shape 3"/>
          <p:cNvSpPr/>
          <p:nvPr/>
        </p:nvSpPr>
        <p:spPr>
          <a:xfrm>
            <a:off x="868680" y="2057400"/>
            <a:ext cx="685800" cy="685800"/>
          </a:xfrm>
          <a:prstGeom prst="ellipse">
            <a:avLst/>
          </a:prstGeom>
          <a:solidFill>
            <a:srgbClr val="15324A"/>
          </a:solidFill>
        </p:spPr>
      </p:sp>
      <p:pic>
        <p:nvPicPr>
          <p:cNvPr id="6" name="Image 0" descr="icons/users.png"/>
          <p:cNvPicPr>
            <a:picLocks noChangeAspect="1"/>
          </p:cNvPicPr>
          <p:nvPr/>
        </p:nvPicPr>
        <p:blipFill>
          <a:blip r:embed="rId1"/>
          <a:stretch>
            <a:fillRect/>
          </a:stretch>
        </p:blipFill>
        <p:spPr>
          <a:xfrm>
            <a:off x="1046988" y="2235708"/>
            <a:ext cx="329184" cy="329184"/>
          </a:xfrm>
          <a:prstGeom prst="rect">
            <a:avLst/>
          </a:prstGeom>
        </p:spPr>
      </p:pic>
      <p:sp>
        <p:nvSpPr>
          <p:cNvPr id="7" name="Text 4"/>
          <p:cNvSpPr/>
          <p:nvPr/>
        </p:nvSpPr>
        <p:spPr>
          <a:xfrm>
            <a:off x="1737360" y="2057400"/>
            <a:ext cx="3886200" cy="365760"/>
          </a:xfrm>
          <a:prstGeom prst="rect">
            <a:avLst/>
          </a:prstGeom>
          <a:noFill/>
        </p:spPr>
        <p:txBody>
          <a:bodyPr wrap="square" rtlCol="0" anchor="ctr"/>
          <a:lstStyle/>
          <a:p>
            <a:pPr marL="0" indent="0">
              <a:buNone/>
            </a:pPr>
            <a:r>
              <a:rPr lang="en-US" sz="1700" b="1" dirty="0">
                <a:solidFill>
                  <a:srgbClr val="15324A"/>
                </a:solidFill>
                <a:latin typeface="Cambria" panose="02040503050406030204" pitchFamily="34" charset="0"/>
                <a:ea typeface="Cambria" panose="02040503050406030204" pitchFamily="34" charset="-122"/>
                <a:cs typeface="Cambria" panose="02040503050406030204" pitchFamily="34" charset="-120"/>
              </a:rPr>
              <a:t>Trần Đức Trí</a:t>
            </a:r>
            <a:endParaRPr lang="en-US" sz="1700" dirty="0"/>
          </a:p>
        </p:txBody>
      </p:sp>
      <p:sp>
        <p:nvSpPr>
          <p:cNvPr id="8" name="Text 5"/>
          <p:cNvSpPr/>
          <p:nvPr/>
        </p:nvSpPr>
        <p:spPr>
          <a:xfrm>
            <a:off x="1737360" y="2395728"/>
            <a:ext cx="3886200" cy="274320"/>
          </a:xfrm>
          <a:prstGeom prst="rect">
            <a:avLst/>
          </a:prstGeom>
          <a:noFill/>
        </p:spPr>
        <p:txBody>
          <a:bodyPr wrap="square" rtlCol="0" anchor="ctr"/>
          <a:lstStyle/>
          <a:p>
            <a:pPr marL="0" indent="0">
              <a:buNone/>
            </a:pPr>
            <a:r>
              <a:rPr lang="en-US" sz="1050" dirty="0">
                <a:solidFill>
                  <a:srgbClr val="5B6B75"/>
                </a:solidFill>
                <a:latin typeface="Calibri" panose="020F0502020204030204" pitchFamily="34" charset="0"/>
                <a:ea typeface="Calibri" panose="020F0502020204030204" pitchFamily="34" charset="-122"/>
                <a:cs typeface="Calibri" panose="020F0502020204030204" pitchFamily="34" charset="-120"/>
              </a:rPr>
              <a:t>23130347@st.hcmuaf.edu.vn  ·  Đóng góp 50%</a:t>
            </a:r>
            <a:endParaRPr lang="en-US" sz="1050" dirty="0"/>
          </a:p>
        </p:txBody>
      </p:sp>
      <p:sp>
        <p:nvSpPr>
          <p:cNvPr id="9" name="Text 6"/>
          <p:cNvSpPr/>
          <p:nvPr/>
        </p:nvSpPr>
        <p:spPr>
          <a:xfrm>
            <a:off x="868680" y="2926080"/>
            <a:ext cx="4709160" cy="274320"/>
          </a:xfrm>
          <a:prstGeom prst="rect">
            <a:avLst/>
          </a:prstGeom>
          <a:noFill/>
        </p:spPr>
        <p:txBody>
          <a:bodyPr wrap="square" rtlCol="0" anchor="ctr"/>
          <a:lstStyle/>
          <a:p>
            <a:pPr marL="0" indent="0">
              <a:buNone/>
            </a:pPr>
            <a:r>
              <a:rPr lang="en-US" sz="1150" b="1" dirty="0">
                <a:solidFill>
                  <a:srgbClr val="15324A"/>
                </a:solidFill>
                <a:latin typeface="Calibri" panose="020F0502020204030204" pitchFamily="34" charset="0"/>
                <a:ea typeface="Calibri" panose="020F0502020204030204" pitchFamily="34" charset="-122"/>
                <a:cs typeface="Calibri" panose="020F0502020204030204" pitchFamily="34" charset="-120"/>
              </a:rPr>
              <a:t>Nội dung phụ trách</a:t>
            </a:r>
            <a:endParaRPr lang="en-US" sz="1150" dirty="0"/>
          </a:p>
        </p:txBody>
      </p:sp>
      <p:sp>
        <p:nvSpPr>
          <p:cNvPr id="10" name="Text 7"/>
          <p:cNvSpPr/>
          <p:nvPr/>
        </p:nvSpPr>
        <p:spPr>
          <a:xfrm>
            <a:off x="868680" y="3200400"/>
            <a:ext cx="4709160" cy="1051560"/>
          </a:xfrm>
          <a:prstGeom prst="rect">
            <a:avLst/>
          </a:prstGeom>
          <a:noFill/>
        </p:spPr>
        <p:txBody>
          <a:bodyPr wrap="square" rtlCol="0" anchor="ctr"/>
          <a:lstStyle/>
          <a:p>
            <a:pPr marL="0" indent="0">
              <a:lnSpc>
                <a:spcPct val="120000"/>
              </a:lnSpc>
              <a:buNone/>
            </a:pPr>
            <a:r>
              <a:rPr 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rPr>
              <a:t>Phần 1 (Tóm tắt, Giới thiệu) · 3.1 Bài toán · 3.2.1–3.2.3 Kỹ nghệ đặc trưng, Lasso,</a:t>
            </a:r>
            <a:r>
              <a:rPr lang="vi-VN" alt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sym typeface="+mn-ea"/>
              </a:rPr>
              <a:t>RandomForest</a:t>
            </a:r>
            <a:r>
              <a:rPr lang="vi-VN" alt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sym typeface="+mn-ea"/>
              </a:rPr>
              <a:t>,</a:t>
            </a:r>
            <a:r>
              <a:rPr 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sym typeface="+mn-ea"/>
              </a:rPr>
              <a:t> </a:t>
            </a:r>
            <a:r>
              <a:rPr 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rPr>
              <a:t> SVR · 4.1 Dữ liệu, EDA, Tiền xử lý.</a:t>
            </a:r>
            <a:endParaRPr lang="en-US" sz="1100" dirty="0"/>
          </a:p>
        </p:txBody>
      </p:sp>
      <p:sp>
        <p:nvSpPr>
          <p:cNvPr id="11" name="Text 8"/>
          <p:cNvSpPr/>
          <p:nvPr/>
        </p:nvSpPr>
        <p:spPr>
          <a:xfrm>
            <a:off x="868680" y="4297680"/>
            <a:ext cx="4709160" cy="274320"/>
          </a:xfrm>
          <a:prstGeom prst="rect">
            <a:avLst/>
          </a:prstGeom>
          <a:noFill/>
        </p:spPr>
        <p:txBody>
          <a:bodyPr wrap="square" rtlCol="0" anchor="ctr"/>
          <a:lstStyle/>
          <a:p>
            <a:pPr marL="0" indent="0">
              <a:buNone/>
            </a:pPr>
            <a:r>
              <a:rPr lang="en-US" sz="1150" b="1" dirty="0">
                <a:solidFill>
                  <a:srgbClr val="15324A"/>
                </a:solidFill>
                <a:latin typeface="Calibri" panose="020F0502020204030204" pitchFamily="34" charset="0"/>
                <a:ea typeface="Calibri" panose="020F0502020204030204" pitchFamily="34" charset="-122"/>
                <a:cs typeface="Calibri" panose="020F0502020204030204" pitchFamily="34" charset="-120"/>
              </a:rPr>
              <a:t>Đóng góp mã nguồn (Code)</a:t>
            </a:r>
            <a:endParaRPr lang="en-US" sz="1150" dirty="0"/>
          </a:p>
        </p:txBody>
      </p:sp>
      <p:sp>
        <p:nvSpPr>
          <p:cNvPr id="12" name="Text 9"/>
          <p:cNvSpPr/>
          <p:nvPr/>
        </p:nvSpPr>
        <p:spPr>
          <a:xfrm>
            <a:off x="868680" y="4572000"/>
            <a:ext cx="4709160" cy="1097280"/>
          </a:xfrm>
          <a:prstGeom prst="rect">
            <a:avLst/>
          </a:prstGeom>
          <a:noFill/>
        </p:spPr>
        <p:txBody>
          <a:bodyPr wrap="square" rtlCol="0" anchor="ctr"/>
          <a:lstStyle/>
          <a:p>
            <a:pPr marL="0" indent="0">
              <a:lnSpc>
                <a:spcPct val="120000"/>
              </a:lnSpc>
              <a:buNone/>
            </a:pPr>
            <a:r>
              <a:rPr 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rPr>
              <a:t>Code: load_data(), feature_engineering(), preprocess_data(), GridSearchCV cho Lasso</a:t>
            </a:r>
            <a:r>
              <a:rPr lang="vi-VN" alt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sym typeface="+mn-ea"/>
              </a:rPr>
              <a:t>RandomForest</a:t>
            </a:r>
            <a:r>
              <a:rPr 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rPr>
              <a:t> &amp; SVR</a:t>
            </a:r>
            <a:r>
              <a:rPr lang="vi-VN" alt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rPr>
              <a:t> </a:t>
            </a:r>
            <a:r>
              <a:rPr 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rPr>
              <a:t>. Format báo cáo.</a:t>
            </a:r>
            <a:endParaRPr lang="en-US" sz="1100" dirty="0"/>
          </a:p>
        </p:txBody>
      </p:sp>
      <p:sp>
        <p:nvSpPr>
          <p:cNvPr id="13" name="Shape 10"/>
          <p:cNvSpPr/>
          <p:nvPr/>
        </p:nvSpPr>
        <p:spPr>
          <a:xfrm>
            <a:off x="6263640" y="1737360"/>
            <a:ext cx="5349240" cy="4114800"/>
          </a:xfrm>
          <a:prstGeom prst="roundRect">
            <a:avLst>
              <a:gd name="adj" fmla="val 1778"/>
            </a:avLst>
          </a:prstGeom>
          <a:solidFill>
            <a:srgbClr val="EEF1F3"/>
          </a:solidFill>
        </p:spPr>
      </p:sp>
      <p:sp>
        <p:nvSpPr>
          <p:cNvPr id="14" name="Shape 11"/>
          <p:cNvSpPr/>
          <p:nvPr/>
        </p:nvSpPr>
        <p:spPr>
          <a:xfrm>
            <a:off x="6583680" y="2057400"/>
            <a:ext cx="685800" cy="685800"/>
          </a:xfrm>
          <a:prstGeom prst="ellipse">
            <a:avLst/>
          </a:prstGeom>
          <a:solidFill>
            <a:srgbClr val="C1652F"/>
          </a:solidFill>
        </p:spPr>
      </p:sp>
      <p:pic>
        <p:nvPicPr>
          <p:cNvPr id="15" name="Image 1" descr="icons/users.png"/>
          <p:cNvPicPr>
            <a:picLocks noChangeAspect="1"/>
          </p:cNvPicPr>
          <p:nvPr/>
        </p:nvPicPr>
        <p:blipFill>
          <a:blip r:embed="rId1"/>
          <a:stretch>
            <a:fillRect/>
          </a:stretch>
        </p:blipFill>
        <p:spPr>
          <a:xfrm>
            <a:off x="6761988" y="2235708"/>
            <a:ext cx="329184" cy="329184"/>
          </a:xfrm>
          <a:prstGeom prst="rect">
            <a:avLst/>
          </a:prstGeom>
        </p:spPr>
      </p:pic>
      <p:sp>
        <p:nvSpPr>
          <p:cNvPr id="16" name="Text 12"/>
          <p:cNvSpPr/>
          <p:nvPr/>
        </p:nvSpPr>
        <p:spPr>
          <a:xfrm>
            <a:off x="7452360" y="2057400"/>
            <a:ext cx="3886200" cy="365760"/>
          </a:xfrm>
          <a:prstGeom prst="rect">
            <a:avLst/>
          </a:prstGeom>
          <a:noFill/>
        </p:spPr>
        <p:txBody>
          <a:bodyPr wrap="square" rtlCol="0" anchor="ctr"/>
          <a:lstStyle/>
          <a:p>
            <a:pPr marL="0" indent="0">
              <a:buNone/>
            </a:pPr>
            <a:r>
              <a:rPr lang="en-US" sz="1700" b="1" dirty="0">
                <a:solidFill>
                  <a:srgbClr val="15324A"/>
                </a:solidFill>
                <a:latin typeface="Cambria" panose="02040503050406030204" pitchFamily="34" charset="0"/>
                <a:ea typeface="Cambria" panose="02040503050406030204" pitchFamily="34" charset="-122"/>
                <a:cs typeface="Cambria" panose="02040503050406030204" pitchFamily="34" charset="-120"/>
              </a:rPr>
              <a:t>Lương Hoài Sang</a:t>
            </a:r>
            <a:endParaRPr lang="en-US" sz="1700" dirty="0"/>
          </a:p>
        </p:txBody>
      </p:sp>
      <p:sp>
        <p:nvSpPr>
          <p:cNvPr id="17" name="Text 13"/>
          <p:cNvSpPr/>
          <p:nvPr/>
        </p:nvSpPr>
        <p:spPr>
          <a:xfrm>
            <a:off x="7452360" y="2395728"/>
            <a:ext cx="3886200" cy="274320"/>
          </a:xfrm>
          <a:prstGeom prst="rect">
            <a:avLst/>
          </a:prstGeom>
          <a:noFill/>
        </p:spPr>
        <p:txBody>
          <a:bodyPr wrap="square" rtlCol="0" anchor="ctr"/>
          <a:lstStyle/>
          <a:p>
            <a:pPr marL="0" indent="0">
              <a:buNone/>
            </a:pPr>
            <a:r>
              <a:rPr lang="en-US" sz="1050" dirty="0">
                <a:solidFill>
                  <a:srgbClr val="5B6B75"/>
                </a:solidFill>
                <a:latin typeface="Calibri" panose="020F0502020204030204" pitchFamily="34" charset="0"/>
                <a:ea typeface="Calibri" panose="020F0502020204030204" pitchFamily="34" charset="-122"/>
                <a:cs typeface="Calibri" panose="020F0502020204030204" pitchFamily="34" charset="-120"/>
              </a:rPr>
              <a:t>23130270@st.hcmuaf.edu.vn  ·  Đóng góp 50%</a:t>
            </a:r>
            <a:endParaRPr lang="en-US" sz="1050" dirty="0"/>
          </a:p>
        </p:txBody>
      </p:sp>
      <p:sp>
        <p:nvSpPr>
          <p:cNvPr id="18" name="Text 14"/>
          <p:cNvSpPr/>
          <p:nvPr/>
        </p:nvSpPr>
        <p:spPr>
          <a:xfrm>
            <a:off x="6583680" y="2926080"/>
            <a:ext cx="4709160" cy="274320"/>
          </a:xfrm>
          <a:prstGeom prst="rect">
            <a:avLst/>
          </a:prstGeom>
          <a:noFill/>
        </p:spPr>
        <p:txBody>
          <a:bodyPr wrap="square" rtlCol="0" anchor="ctr"/>
          <a:lstStyle/>
          <a:p>
            <a:pPr marL="0" indent="0">
              <a:buNone/>
            </a:pPr>
            <a:r>
              <a:rPr lang="en-US" sz="1150" b="1" dirty="0">
                <a:solidFill>
                  <a:srgbClr val="C1652F"/>
                </a:solidFill>
                <a:latin typeface="Calibri" panose="020F0502020204030204" pitchFamily="34" charset="0"/>
                <a:ea typeface="Calibri" panose="020F0502020204030204" pitchFamily="34" charset="-122"/>
                <a:cs typeface="Calibri" panose="020F0502020204030204" pitchFamily="34" charset="-120"/>
              </a:rPr>
              <a:t>Nội dung phụ trách</a:t>
            </a:r>
            <a:endParaRPr lang="en-US" sz="1150" dirty="0"/>
          </a:p>
        </p:txBody>
      </p:sp>
      <p:sp>
        <p:nvSpPr>
          <p:cNvPr id="19" name="Text 15"/>
          <p:cNvSpPr/>
          <p:nvPr/>
        </p:nvSpPr>
        <p:spPr>
          <a:xfrm>
            <a:off x="6583680" y="3200400"/>
            <a:ext cx="4709160" cy="1051560"/>
          </a:xfrm>
          <a:prstGeom prst="rect">
            <a:avLst/>
          </a:prstGeom>
          <a:noFill/>
        </p:spPr>
        <p:txBody>
          <a:bodyPr wrap="square" rtlCol="0" anchor="ctr"/>
          <a:lstStyle/>
          <a:p>
            <a:pPr marL="0" indent="0">
              <a:lnSpc>
                <a:spcPct val="120000"/>
              </a:lnSpc>
              <a:buNone/>
            </a:pPr>
            <a:r>
              <a:rPr 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rPr>
              <a:t>Phần 2 (Công trình liên quan) · 3.2.4–3.2.6 XGBoost, MLP · 4.2 Kết quả, Biểu đồ · Phần 5 Kết luận, Tài liệu tham khảo.</a:t>
            </a:r>
            <a:endParaRPr lang="en-US" sz="1100" dirty="0"/>
          </a:p>
        </p:txBody>
      </p:sp>
      <p:sp>
        <p:nvSpPr>
          <p:cNvPr id="20" name="Text 16"/>
          <p:cNvSpPr/>
          <p:nvPr/>
        </p:nvSpPr>
        <p:spPr>
          <a:xfrm>
            <a:off x="6583680" y="4297680"/>
            <a:ext cx="4709160" cy="274320"/>
          </a:xfrm>
          <a:prstGeom prst="rect">
            <a:avLst/>
          </a:prstGeom>
          <a:noFill/>
        </p:spPr>
        <p:txBody>
          <a:bodyPr wrap="square" rtlCol="0" anchor="ctr"/>
          <a:lstStyle/>
          <a:p>
            <a:pPr marL="0" indent="0">
              <a:buNone/>
            </a:pPr>
            <a:r>
              <a:rPr lang="en-US" sz="1150" b="1" dirty="0">
                <a:solidFill>
                  <a:srgbClr val="C1652F"/>
                </a:solidFill>
                <a:latin typeface="Calibri" panose="020F0502020204030204" pitchFamily="34" charset="0"/>
                <a:ea typeface="Calibri" panose="020F0502020204030204" pitchFamily="34" charset="-122"/>
                <a:cs typeface="Calibri" panose="020F0502020204030204" pitchFamily="34" charset="-120"/>
              </a:rPr>
              <a:t>Đóng góp mã nguồn (Code)</a:t>
            </a:r>
            <a:endParaRPr lang="en-US" sz="1150" dirty="0"/>
          </a:p>
        </p:txBody>
      </p:sp>
      <p:sp>
        <p:nvSpPr>
          <p:cNvPr id="21" name="Text 17"/>
          <p:cNvSpPr/>
          <p:nvPr/>
        </p:nvSpPr>
        <p:spPr>
          <a:xfrm>
            <a:off x="6583680" y="4572000"/>
            <a:ext cx="4709160" cy="1097280"/>
          </a:xfrm>
          <a:prstGeom prst="rect">
            <a:avLst/>
          </a:prstGeom>
          <a:noFill/>
        </p:spPr>
        <p:txBody>
          <a:bodyPr wrap="square" rtlCol="0" anchor="ctr"/>
          <a:lstStyle/>
          <a:p>
            <a:pPr marL="0" indent="0">
              <a:lnSpc>
                <a:spcPct val="120000"/>
              </a:lnSpc>
              <a:buNone/>
            </a:pPr>
            <a:r>
              <a:rPr lang="en-US" sz="1100" dirty="0">
                <a:solidFill>
                  <a:srgbClr val="1F2A33"/>
                </a:solidFill>
                <a:latin typeface="Calibri" panose="020F0502020204030204" pitchFamily="34" charset="0"/>
                <a:ea typeface="Calibri" panose="020F0502020204030204" pitchFamily="34" charset="-122"/>
                <a:cs typeface="Calibri" panose="020F0502020204030204" pitchFamily="34" charset="-120"/>
              </a:rPr>
              <a:t>Code: GridSearchCV cho XGBoost&amp; MLP, xây dựng app.py (Flask inference), script vẽ biểu đồ so sánh.</a:t>
            </a:r>
            <a:endParaRPr lang="en-US" sz="1100" dirty="0"/>
          </a:p>
        </p:txBody>
      </p:sp>
      <p:sp>
        <p:nvSpPr>
          <p:cNvPr id="22" name="Shape 18"/>
          <p:cNvSpPr/>
          <p:nvPr/>
        </p:nvSpPr>
        <p:spPr>
          <a:xfrm>
            <a:off x="548640" y="6080760"/>
            <a:ext cx="11064240" cy="548640"/>
          </a:xfrm>
          <a:prstGeom prst="roundRect">
            <a:avLst>
              <a:gd name="adj" fmla="val 10000"/>
            </a:avLst>
          </a:prstGeom>
          <a:solidFill>
            <a:srgbClr val="15324A"/>
          </a:solidFill>
        </p:spPr>
      </p:sp>
      <p:sp>
        <p:nvSpPr>
          <p:cNvPr id="23" name="Text 19"/>
          <p:cNvSpPr/>
          <p:nvPr/>
        </p:nvSpPr>
        <p:spPr>
          <a:xfrm>
            <a:off x="822960" y="6080760"/>
            <a:ext cx="10515600" cy="548640"/>
          </a:xfrm>
          <a:prstGeom prst="rect">
            <a:avLst/>
          </a:prstGeom>
          <a:noFill/>
        </p:spPr>
        <p:txBody>
          <a:bodyPr wrap="square" rtlCol="0" anchor="ctr"/>
          <a:lstStyle/>
          <a:p>
            <a:pPr marL="0" indent="0">
              <a:buNone/>
            </a:pPr>
            <a:r>
              <a:rPr lang="en-US" sz="1150" b="1" dirty="0">
                <a:solidFill>
                  <a:srgbClr val="E8A874"/>
                </a:solidFill>
                <a:latin typeface="Calibri" panose="020F0502020204030204" pitchFamily="34" charset="0"/>
                <a:ea typeface="Calibri" panose="020F0502020204030204" pitchFamily="34" charset="-122"/>
                <a:cs typeface="Calibri" panose="020F0502020204030204" pitchFamily="34" charset="-120"/>
              </a:rPr>
              <a:t>Link Source Code:  </a:t>
            </a:r>
            <a:r>
              <a:rPr lang="en-US" altLang="en-US" sz="1150" b="1" dirty="0">
                <a:solidFill>
                  <a:srgbClr val="E8A874"/>
                </a:solidFill>
                <a:latin typeface="Calibri" panose="020F0502020204030204" pitchFamily="34" charset="0"/>
                <a:ea typeface="Calibri" panose="020F0502020204030204" pitchFamily="34" charset="-122"/>
                <a:cs typeface="Calibri" panose="020F0502020204030204" pitchFamily="34" charset="-120"/>
              </a:rPr>
              <a:t>https://github.com/LastJuly05/BatDongSan_MachineLearning</a:t>
            </a:r>
            <a:endParaRPr lang="en-US" altLang="en-US" sz="1150" b="1" dirty="0">
              <a:solidFill>
                <a:srgbClr val="E8A874"/>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0"/>
          <p:cNvSpPr/>
          <p:nvPr/>
        </p:nvSpPr>
        <p:spPr>
          <a:xfrm>
            <a:off x="11521440" y="6473952"/>
            <a:ext cx="457200" cy="274320"/>
          </a:xfrm>
          <a:prstGeom prst="rect">
            <a:avLst/>
          </a:prstGeom>
          <a:noFill/>
        </p:spPr>
        <p:txBody>
          <a:bodyPr wrap="square" rtlCol="0" anchor="ctr"/>
          <a:lstStyle/>
          <a:p>
            <a:pPr marL="0" indent="0" algn="r">
              <a:buNone/>
            </a:pPr>
            <a:r>
              <a:rPr lang="en-US" sz="1000" dirty="0">
                <a:solidFill>
                  <a:srgbClr val="5B6B75"/>
                </a:solidFill>
                <a:latin typeface="Calibri" panose="020F0502020204030204" pitchFamily="34" charset="0"/>
                <a:ea typeface="Calibri" panose="020F0502020204030204" pitchFamily="34" charset="-122"/>
                <a:cs typeface="Calibri" panose="020F0502020204030204"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532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F4763"/>
          </a:solidFill>
        </p:spPr>
      </p:sp>
      <p:sp>
        <p:nvSpPr>
          <p:cNvPr id="3" name="Shape 1"/>
          <p:cNvSpPr/>
          <p:nvPr/>
        </p:nvSpPr>
        <p:spPr>
          <a:xfrm>
            <a:off x="-1463040" y="4937760"/>
            <a:ext cx="3291840" cy="3291840"/>
          </a:xfrm>
          <a:prstGeom prst="ellipse">
            <a:avLst/>
          </a:prstGeom>
          <a:solidFill>
            <a:srgbClr val="1F4763"/>
          </a:solidFill>
        </p:spPr>
      </p:sp>
      <p:sp>
        <p:nvSpPr>
          <p:cNvPr id="4" name="Shape 2"/>
          <p:cNvSpPr/>
          <p:nvPr/>
        </p:nvSpPr>
        <p:spPr>
          <a:xfrm>
            <a:off x="5394960" y="1371600"/>
            <a:ext cx="1371600" cy="1371600"/>
          </a:xfrm>
          <a:prstGeom prst="ellipse">
            <a:avLst/>
          </a:prstGeom>
          <a:solidFill>
            <a:srgbClr val="C1652F"/>
          </a:solidFill>
        </p:spPr>
      </p:sp>
      <p:pic>
        <p:nvPicPr>
          <p:cNvPr id="5" name="Image 0" descr="icons/handshake.png"/>
          <p:cNvPicPr>
            <a:picLocks noChangeAspect="1"/>
          </p:cNvPicPr>
          <p:nvPr/>
        </p:nvPicPr>
        <p:blipFill>
          <a:blip r:embed="rId1"/>
          <a:stretch>
            <a:fillRect/>
          </a:stretch>
        </p:blipFill>
        <p:spPr>
          <a:xfrm>
            <a:off x="5751576" y="1728216"/>
            <a:ext cx="658368" cy="658368"/>
          </a:xfrm>
          <a:prstGeom prst="rect">
            <a:avLst/>
          </a:prstGeom>
        </p:spPr>
      </p:pic>
      <p:sp>
        <p:nvSpPr>
          <p:cNvPr id="6" name="Text 3"/>
          <p:cNvSpPr/>
          <p:nvPr/>
        </p:nvSpPr>
        <p:spPr>
          <a:xfrm>
            <a:off x="822960" y="3017520"/>
            <a:ext cx="10515600" cy="822960"/>
          </a:xfrm>
          <a:prstGeom prst="rect">
            <a:avLst/>
          </a:prstGeom>
          <a:noFill/>
        </p:spPr>
        <p:txBody>
          <a:bodyPr wrap="square" rtlCol="0" anchor="ctr"/>
          <a:lstStyle/>
          <a:p>
            <a:pPr marL="0" indent="0" algn="ctr">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Lời cảm ơn</a:t>
            </a:r>
            <a:endParaRPr lang="en-US" sz="4000" dirty="0"/>
          </a:p>
        </p:txBody>
      </p:sp>
      <p:sp>
        <p:nvSpPr>
          <p:cNvPr id="7" name="Text 4"/>
          <p:cNvSpPr/>
          <p:nvPr/>
        </p:nvSpPr>
        <p:spPr>
          <a:xfrm>
            <a:off x="822960" y="3794760"/>
            <a:ext cx="10515600" cy="457200"/>
          </a:xfrm>
          <a:prstGeom prst="rect">
            <a:avLst/>
          </a:prstGeom>
          <a:noFill/>
        </p:spPr>
        <p:txBody>
          <a:bodyPr wrap="square" rtlCol="0" anchor="ctr"/>
          <a:lstStyle/>
          <a:p>
            <a:pPr marL="0" indent="0" algn="ctr">
              <a:buNone/>
            </a:pPr>
            <a:r>
              <a:rPr lang="en-US" sz="1600" i="1" dirty="0">
                <a:solidFill>
                  <a:srgbClr val="C9D6DD"/>
                </a:solidFill>
                <a:latin typeface="Calibri" panose="020F0502020204030204" pitchFamily="34" charset="0"/>
                <a:ea typeface="Calibri" panose="020F0502020204030204" pitchFamily="34" charset="-122"/>
                <a:cs typeface="Calibri" panose="020F0502020204030204" pitchFamily="34" charset="-120"/>
              </a:rPr>
              <a:t>Cảm ơn Quý thầy cô và các bạn đã chú ý lắng nghe!</a:t>
            </a:r>
            <a:endParaRPr lang="en-US" sz="1600" dirty="0"/>
          </a:p>
        </p:txBody>
      </p:sp>
      <p:sp>
        <p:nvSpPr>
          <p:cNvPr id="8" name="Shape 5"/>
          <p:cNvSpPr/>
          <p:nvPr/>
        </p:nvSpPr>
        <p:spPr>
          <a:xfrm>
            <a:off x="5166360" y="4526280"/>
            <a:ext cx="1828800" cy="18288"/>
          </a:xfrm>
          <a:prstGeom prst="rect">
            <a:avLst/>
          </a:prstGeom>
          <a:solidFill>
            <a:srgbClr val="1F4763"/>
          </a:solidFill>
        </p:spPr>
      </p:sp>
      <p:sp>
        <p:nvSpPr>
          <p:cNvPr id="9" name="Text 6"/>
          <p:cNvSpPr/>
          <p:nvPr/>
        </p:nvSpPr>
        <p:spPr>
          <a:xfrm>
            <a:off x="822960" y="4754880"/>
            <a:ext cx="10515600" cy="365760"/>
          </a:xfrm>
          <a:prstGeom prst="rect">
            <a:avLst/>
          </a:prstGeom>
          <a:noFill/>
        </p:spPr>
        <p:txBody>
          <a:bodyPr wrap="square" rtlCol="0" anchor="ctr"/>
          <a:lstStyle/>
          <a:p>
            <a:pPr marL="0" indent="0" algn="ctr">
              <a:buNone/>
            </a:pPr>
            <a:r>
              <a:rPr lang="en-US" sz="1300" b="1" dirty="0">
                <a:solidFill>
                  <a:srgbClr val="E8A874"/>
                </a:solidFill>
                <a:latin typeface="Calibri" panose="020F0502020204030204" pitchFamily="34" charset="0"/>
                <a:ea typeface="Calibri" panose="020F0502020204030204" pitchFamily="34" charset="-122"/>
                <a:cs typeface="Calibri" panose="020F0502020204030204" pitchFamily="34" charset="-120"/>
              </a:rPr>
              <a:t>Thực hiện bởi: Trần Đức Trí &amp; Lương Hoài Sang</a:t>
            </a:r>
            <a:endParaRPr lang="en-US" sz="1300" dirty="0"/>
          </a:p>
        </p:txBody>
      </p:sp>
      <p:sp>
        <p:nvSpPr>
          <p:cNvPr id="10" name="Text 7"/>
          <p:cNvSpPr/>
          <p:nvPr/>
        </p:nvSpPr>
        <p:spPr>
          <a:xfrm>
            <a:off x="822960" y="5120640"/>
            <a:ext cx="10515600" cy="365760"/>
          </a:xfrm>
          <a:prstGeom prst="rect">
            <a:avLst/>
          </a:prstGeom>
          <a:noFill/>
        </p:spPr>
        <p:txBody>
          <a:bodyPr wrap="square" rtlCol="0" anchor="ctr"/>
          <a:lstStyle/>
          <a:p>
            <a:pPr marL="0" indent="0" algn="ctr">
              <a:buNone/>
            </a:pPr>
            <a:r>
              <a:rPr lang="en-US" sz="1200" dirty="0">
                <a:solidFill>
                  <a:srgbClr val="AFC2CC"/>
                </a:solidFill>
                <a:latin typeface="Calibri" panose="020F0502020204030204" pitchFamily="34" charset="0"/>
                <a:ea typeface="Calibri" panose="020F0502020204030204" pitchFamily="34" charset="-122"/>
                <a:cs typeface="Calibri" panose="020F0502020204030204" pitchFamily="34" charset="-120"/>
              </a:rPr>
              <a:t>23130347@st.hcmuaf.edu.vn   ·   23130270@st.hcmuaf.edu.vn</a:t>
            </a:r>
            <a:endParaRPr lang="en-US" sz="1200" dirty="0"/>
          </a:p>
        </p:txBody>
      </p:sp>
      <p:sp>
        <p:nvSpPr>
          <p:cNvPr id="11" name="Text 8"/>
          <p:cNvSpPr/>
          <p:nvPr/>
        </p:nvSpPr>
        <p:spPr>
          <a:xfrm>
            <a:off x="822960" y="6309360"/>
            <a:ext cx="10515600" cy="320040"/>
          </a:xfrm>
          <a:prstGeom prst="rect">
            <a:avLst/>
          </a:prstGeom>
          <a:noFill/>
        </p:spPr>
        <p:txBody>
          <a:bodyPr wrap="square" rtlCol="0" anchor="ctr"/>
          <a:lstStyle/>
          <a:p>
            <a:pPr marL="0" indent="0" algn="ctr">
              <a:buNone/>
            </a:pPr>
            <a:r>
              <a:rPr lang="en-US" sz="1100" dirty="0">
                <a:solidFill>
                  <a:srgbClr val="8FA6B2"/>
                </a:solidFill>
                <a:latin typeface="Calibri" panose="020F0502020204030204" pitchFamily="34" charset="0"/>
                <a:ea typeface="Calibri" panose="020F0502020204030204" pitchFamily="34" charset="-122"/>
                <a:cs typeface="Calibri" panose="020F0502020204030204" pitchFamily="34" charset="-120"/>
              </a:rPr>
              <a:t>Trường Đại học Nông Lâm TP. Hồ Chí Minh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5121</Words>
  <Application>WPS Presentation</Application>
  <PresentationFormat>On-screen Show (16:9)</PresentationFormat>
  <Paragraphs>279</Paragraphs>
  <Slides>9</Slides>
  <Notes>9</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9</vt:i4>
      </vt:variant>
    </vt:vector>
  </HeadingPairs>
  <TitlesOfParts>
    <vt:vector size="26" baseType="lpstr">
      <vt:lpstr>Arial</vt:lpstr>
      <vt:lpstr>SimSun</vt:lpstr>
      <vt:lpstr>Wingdings</vt:lpstr>
      <vt:lpstr>Calibri</vt:lpstr>
      <vt:lpstr>Calibri</vt:lpstr>
      <vt:lpstr>Calibri</vt:lpstr>
      <vt:lpstr>Cambria</vt:lpstr>
      <vt:lpstr>Cambria</vt:lpstr>
      <vt:lpstr>Cambria</vt:lpstr>
      <vt:lpstr>Courier New</vt:lpstr>
      <vt:lpstr>Courier New</vt:lpstr>
      <vt:lpstr>Courier New</vt:lpstr>
      <vt:lpstr>Calibri</vt:lpstr>
      <vt:lpstr>Arial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WPS_1704449412</cp:lastModifiedBy>
  <cp:revision>4</cp:revision>
  <dcterms:created xsi:type="dcterms:W3CDTF">2026-07-11T16:03:00Z</dcterms:created>
  <dcterms:modified xsi:type="dcterms:W3CDTF">2026-07-12T14:39:10Z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79620A2C93E74248B73276F9143A826B_12</vt:lpwstr>
  </property>
</Properties>
</file>